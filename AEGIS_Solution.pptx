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3" r:id="rId3"/>
    <p:sldId id="256" r:id="rId4"/>
    <p:sldId id="257" r:id="rId5"/>
    <p:sldId id="258" r:id="rId6"/>
    <p:sldId id="259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iteria" id="{86798D8C-64BB-83A5-C556-C417FC0BAE3A}">
          <p14:sldIdLst>
            <p14:sldId id="261"/>
            <p14:sldId id="263"/>
            <p14:sldId id="256"/>
            <p14:sldId id="257"/>
            <p14:sldId id="258"/>
            <p14:sldId id="259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0CDB30-2627-442B-A3E8-84F1B0668F85}" v="575" dt="2026-10-14T09:35:21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ritika Ranjan" userId="ce004b23-30b3-4428-a263-9a1d447ad8a5" providerId="ADAL" clId="{CC7EF75E-90E4-4F86-92BE-440A9B90C493}"/>
    <pc:docChg chg="undo custSel addSld delSld modSld sldOrd modSection">
      <pc:chgData name="Hritika Ranjan" userId="ce004b23-30b3-4428-a263-9a1d447ad8a5" providerId="ADAL" clId="{CC7EF75E-90E4-4F86-92BE-440A9B90C493}" dt="2026-10-14T09:35:21.716" v="639" actId="20577"/>
      <pc:docMkLst>
        <pc:docMk/>
      </pc:docMkLst>
      <pc:sldChg chg="addSp delSp modSp mod">
        <pc:chgData name="Hritika Ranjan" userId="ce004b23-30b3-4428-a263-9a1d447ad8a5" providerId="ADAL" clId="{CC7EF75E-90E4-4F86-92BE-440A9B90C493}" dt="2026-10-14T09:31:16.448" v="414" actId="20577"/>
        <pc:sldMkLst>
          <pc:docMk/>
          <pc:sldMk cId="0" sldId="256"/>
        </pc:sldMkLst>
        <pc:spChg chg="mod">
          <ac:chgData name="Hritika Ranjan" userId="ce004b23-30b3-4428-a263-9a1d447ad8a5" providerId="ADAL" clId="{CC7EF75E-90E4-4F86-92BE-440A9B90C493}" dt="2026-10-14T08:57:36.246" v="326" actId="207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Hritika Ranjan" userId="ce004b23-30b3-4428-a263-9a1d447ad8a5" providerId="ADAL" clId="{CC7EF75E-90E4-4F86-92BE-440A9B90C493}" dt="2026-10-14T08:54:34.309" v="305"/>
          <ac:spMkLst>
            <pc:docMk/>
            <pc:sldMk cId="0" sldId="256"/>
            <ac:spMk id="4" creationId="{868F1B4E-3B80-6B2D-0147-048873809171}"/>
          </ac:spMkLst>
        </pc:spChg>
        <pc:spChg chg="del mod">
          <ac:chgData name="Hritika Ranjan" userId="ce004b23-30b3-4428-a263-9a1d447ad8a5" providerId="ADAL" clId="{CC7EF75E-90E4-4F86-92BE-440A9B90C493}" dt="2026-10-14T08:54:22.445" v="301" actId="21"/>
          <ac:spMkLst>
            <pc:docMk/>
            <pc:sldMk cId="0" sldId="256"/>
            <ac:spMk id="5" creationId="{C4AC08E5-34E2-F527-DC8F-C8BFEEC8E101}"/>
          </ac:spMkLst>
        </pc:spChg>
        <pc:spChg chg="add del mod">
          <ac:chgData name="Hritika Ranjan" userId="ce004b23-30b3-4428-a263-9a1d447ad8a5" providerId="ADAL" clId="{CC7EF75E-90E4-4F86-92BE-440A9B90C493}" dt="2026-10-14T08:56:29.631" v="315"/>
          <ac:spMkLst>
            <pc:docMk/>
            <pc:sldMk cId="0" sldId="256"/>
            <ac:spMk id="6" creationId="{4424F121-14D7-741E-AB85-93D4DBF07AB6}"/>
          </ac:spMkLst>
        </pc:spChg>
        <pc:spChg chg="add del">
          <ac:chgData name="Hritika Ranjan" userId="ce004b23-30b3-4428-a263-9a1d447ad8a5" providerId="ADAL" clId="{CC7EF75E-90E4-4F86-92BE-440A9B90C493}" dt="2026-10-14T08:56:56.501" v="317" actId="22"/>
          <ac:spMkLst>
            <pc:docMk/>
            <pc:sldMk cId="0" sldId="256"/>
            <ac:spMk id="8" creationId="{013503B0-4C2E-DFBB-A74A-EB8F922C617E}"/>
          </ac:spMkLst>
        </pc:spChg>
        <pc:spChg chg="add mod">
          <ac:chgData name="Hritika Ranjan" userId="ce004b23-30b3-4428-a263-9a1d447ad8a5" providerId="ADAL" clId="{CC7EF75E-90E4-4F86-92BE-440A9B90C493}" dt="2026-10-14T09:31:16.448" v="414" actId="20577"/>
          <ac:spMkLst>
            <pc:docMk/>
            <pc:sldMk cId="0" sldId="256"/>
            <ac:spMk id="10" creationId="{64EFEDC8-10AC-E4E7-110C-F3F8A4A39142}"/>
          </ac:spMkLst>
        </pc:spChg>
      </pc:sldChg>
      <pc:sldChg chg="addSp delSp modSp mod">
        <pc:chgData name="Hritika Ranjan" userId="ce004b23-30b3-4428-a263-9a1d447ad8a5" providerId="ADAL" clId="{CC7EF75E-90E4-4F86-92BE-440A9B90C493}" dt="2026-10-14T09:35:21.716" v="639" actId="20577"/>
        <pc:sldMkLst>
          <pc:docMk/>
          <pc:sldMk cId="0" sldId="257"/>
        </pc:sldMkLst>
        <pc:spChg chg="mod">
          <ac:chgData name="Hritika Ranjan" userId="ce004b23-30b3-4428-a263-9a1d447ad8a5" providerId="ADAL" clId="{CC7EF75E-90E4-4F86-92BE-440A9B90C493}" dt="2026-10-14T08:57:47.256" v="328" actId="20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Hritika Ranjan" userId="ce004b23-30b3-4428-a263-9a1d447ad8a5" providerId="ADAL" clId="{CC7EF75E-90E4-4F86-92BE-440A9B90C493}" dt="2026-10-14T08:54:43.160" v="308"/>
          <ac:spMkLst>
            <pc:docMk/>
            <pc:sldMk cId="0" sldId="257"/>
            <ac:spMk id="4" creationId="{4C86A868-0139-6568-7BAE-7102948A5C3C}"/>
          </ac:spMkLst>
        </pc:spChg>
        <pc:spChg chg="add mod">
          <ac:chgData name="Hritika Ranjan" userId="ce004b23-30b3-4428-a263-9a1d447ad8a5" providerId="ADAL" clId="{CC7EF75E-90E4-4F86-92BE-440A9B90C493}" dt="2026-10-14T09:35:21.716" v="639" actId="20577"/>
          <ac:spMkLst>
            <pc:docMk/>
            <pc:sldMk cId="0" sldId="257"/>
            <ac:spMk id="5" creationId="{19A8019F-B449-2052-768E-6B543A890A85}"/>
          </ac:spMkLst>
        </pc:spChg>
      </pc:sldChg>
      <pc:sldChg chg="addSp delSp modSp mod modNotesTx">
        <pc:chgData name="Hritika Ranjan" userId="ce004b23-30b3-4428-a263-9a1d447ad8a5" providerId="ADAL" clId="{CC7EF75E-90E4-4F86-92BE-440A9B90C493}" dt="2026-10-14T09:32:57.432" v="524" actId="20577"/>
        <pc:sldMkLst>
          <pc:docMk/>
          <pc:sldMk cId="0" sldId="258"/>
        </pc:sldMkLst>
        <pc:spChg chg="mod">
          <ac:chgData name="Hritika Ranjan" userId="ce004b23-30b3-4428-a263-9a1d447ad8a5" providerId="ADAL" clId="{CC7EF75E-90E4-4F86-92BE-440A9B90C493}" dt="2026-10-14T08:57:57.700" v="330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Hritika Ranjan" userId="ce004b23-30b3-4428-a263-9a1d447ad8a5" providerId="ADAL" clId="{CC7EF75E-90E4-4F86-92BE-440A9B90C493}" dt="2026-10-14T08:54:53.314" v="309" actId="21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Hritika Ranjan" userId="ce004b23-30b3-4428-a263-9a1d447ad8a5" providerId="ADAL" clId="{CC7EF75E-90E4-4F86-92BE-440A9B90C493}" dt="2026-10-14T09:03:39.478" v="350" actId="1076"/>
          <ac:spMkLst>
            <pc:docMk/>
            <pc:sldMk cId="0" sldId="258"/>
            <ac:spMk id="5" creationId="{DE173499-A638-1FF6-5DE0-1BF49C231F9B}"/>
          </ac:spMkLst>
        </pc:spChg>
        <pc:spChg chg="add mod">
          <ac:chgData name="Hritika Ranjan" userId="ce004b23-30b3-4428-a263-9a1d447ad8a5" providerId="ADAL" clId="{CC7EF75E-90E4-4F86-92BE-440A9B90C493}" dt="2026-10-14T09:03:51.865" v="351" actId="13822"/>
          <ac:spMkLst>
            <pc:docMk/>
            <pc:sldMk cId="0" sldId="258"/>
            <ac:spMk id="7" creationId="{CE2EA272-AFF3-376F-704A-52C69FC1600F}"/>
          </ac:spMkLst>
        </pc:spChg>
        <pc:spChg chg="add mod">
          <ac:chgData name="Hritika Ranjan" userId="ce004b23-30b3-4428-a263-9a1d447ad8a5" providerId="ADAL" clId="{CC7EF75E-90E4-4F86-92BE-440A9B90C493}" dt="2026-10-14T09:03:13.194" v="348" actId="767"/>
          <ac:spMkLst>
            <pc:docMk/>
            <pc:sldMk cId="0" sldId="258"/>
            <ac:spMk id="8" creationId="{88E1B25A-3058-99C1-4DA6-4FE38B22BC6D}"/>
          </ac:spMkLst>
        </pc:spChg>
        <pc:spChg chg="add del mod">
          <ac:chgData name="Hritika Ranjan" userId="ce004b23-30b3-4428-a263-9a1d447ad8a5" providerId="ADAL" clId="{CC7EF75E-90E4-4F86-92BE-440A9B90C493}" dt="2026-10-14T09:26:53.814" v="363"/>
          <ac:spMkLst>
            <pc:docMk/>
            <pc:sldMk cId="0" sldId="258"/>
            <ac:spMk id="9" creationId="{EC847845-5EEB-8B3C-105C-78C5D325526C}"/>
          </ac:spMkLst>
        </pc:spChg>
        <pc:spChg chg="add mod">
          <ac:chgData name="Hritika Ranjan" userId="ce004b23-30b3-4428-a263-9a1d447ad8a5" providerId="ADAL" clId="{CC7EF75E-90E4-4F86-92BE-440A9B90C493}" dt="2026-10-14T09:32:57.432" v="524" actId="20577"/>
          <ac:spMkLst>
            <pc:docMk/>
            <pc:sldMk cId="0" sldId="258"/>
            <ac:spMk id="10" creationId="{1EFFA427-C999-AC3B-740D-C7521C1C1EFB}"/>
          </ac:spMkLst>
        </pc:spChg>
      </pc:sldChg>
      <pc:sldChg chg="addSp delSp modSp mod">
        <pc:chgData name="Hritika Ranjan" userId="ce004b23-30b3-4428-a263-9a1d447ad8a5" providerId="ADAL" clId="{CC7EF75E-90E4-4F86-92BE-440A9B90C493}" dt="2026-10-14T09:33:33.522" v="602" actId="20577"/>
        <pc:sldMkLst>
          <pc:docMk/>
          <pc:sldMk cId="0" sldId="259"/>
        </pc:sldMkLst>
        <pc:spChg chg="mod">
          <ac:chgData name="Hritika Ranjan" userId="ce004b23-30b3-4428-a263-9a1d447ad8a5" providerId="ADAL" clId="{CC7EF75E-90E4-4F86-92BE-440A9B90C493}" dt="2026-10-14T08:58:04.927" v="332" actId="207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Hritika Ranjan" userId="ce004b23-30b3-4428-a263-9a1d447ad8a5" providerId="ADAL" clId="{CC7EF75E-90E4-4F86-92BE-440A9B90C493}" dt="2026-10-14T09:33:33.522" v="602" actId="20577"/>
          <ac:spMkLst>
            <pc:docMk/>
            <pc:sldMk cId="0" sldId="259"/>
            <ac:spMk id="4" creationId="{192B2140-395B-CEB3-768B-3727B9B1612E}"/>
          </ac:spMkLst>
        </pc:spChg>
        <pc:spChg chg="add del mod">
          <ac:chgData name="Hritika Ranjan" userId="ce004b23-30b3-4428-a263-9a1d447ad8a5" providerId="ADAL" clId="{CC7EF75E-90E4-4F86-92BE-440A9B90C493}" dt="2026-10-14T08:55:06.711" v="312"/>
          <ac:spMkLst>
            <pc:docMk/>
            <pc:sldMk cId="0" sldId="259"/>
            <ac:spMk id="5" creationId="{FCF9FED1-9D8B-1B5A-3C7C-79BD1E7CB7A2}"/>
          </ac:spMkLst>
        </pc:spChg>
      </pc:sldChg>
      <pc:sldChg chg="new del">
        <pc:chgData name="Hritika Ranjan" userId="ce004b23-30b3-4428-a263-9a1d447ad8a5" providerId="ADAL" clId="{CC7EF75E-90E4-4F86-92BE-440A9B90C493}" dt="2026-10-14T08:53:16.302" v="287" actId="47"/>
        <pc:sldMkLst>
          <pc:docMk/>
          <pc:sldMk cId="1395360483" sldId="262"/>
        </pc:sldMkLst>
      </pc:sldChg>
      <pc:sldChg chg="addSp delSp modSp new del mod ord">
        <pc:chgData name="Hritika Ranjan" userId="ce004b23-30b3-4428-a263-9a1d447ad8a5" providerId="ADAL" clId="{CC7EF75E-90E4-4F86-92BE-440A9B90C493}" dt="2026-10-14T08:51:11.559" v="283" actId="47"/>
        <pc:sldMkLst>
          <pc:docMk/>
          <pc:sldMk cId="1825404221" sldId="262"/>
        </pc:sldMkLst>
        <pc:spChg chg="add del mod">
          <ac:chgData name="Hritika Ranjan" userId="ce004b23-30b3-4428-a263-9a1d447ad8a5" providerId="ADAL" clId="{CC7EF75E-90E4-4F86-92BE-440A9B90C493}" dt="2026-10-14T06:04:25.333" v="212"/>
          <ac:spMkLst>
            <pc:docMk/>
            <pc:sldMk cId="1825404221" sldId="262"/>
            <ac:spMk id="2" creationId="{F305DA65-B937-77C8-ADD5-F4933CA65EF7}"/>
          </ac:spMkLst>
        </pc:spChg>
        <pc:spChg chg="add mod">
          <ac:chgData name="Hritika Ranjan" userId="ce004b23-30b3-4428-a263-9a1d447ad8a5" providerId="ADAL" clId="{CC7EF75E-90E4-4F86-92BE-440A9B90C493}" dt="2026-10-14T08:42:54.404" v="229" actId="20577"/>
          <ac:spMkLst>
            <pc:docMk/>
            <pc:sldMk cId="1825404221" sldId="262"/>
            <ac:spMk id="3" creationId="{3170BCD7-9DD9-3042-87E2-75EA0B3076E1}"/>
          </ac:spMkLst>
        </pc:spChg>
        <pc:spChg chg="add del mod">
          <ac:chgData name="Hritika Ranjan" userId="ce004b23-30b3-4428-a263-9a1d447ad8a5" providerId="ADAL" clId="{CC7EF75E-90E4-4F86-92BE-440A9B90C493}" dt="2026-10-14T06:21:53.042" v="220"/>
          <ac:spMkLst>
            <pc:docMk/>
            <pc:sldMk cId="1825404221" sldId="262"/>
            <ac:spMk id="4" creationId="{24BA0B4A-AC4A-8830-9911-5E2C6728BCD9}"/>
          </ac:spMkLst>
        </pc:spChg>
        <pc:spChg chg="add mod">
          <ac:chgData name="Hritika Ranjan" userId="ce004b23-30b3-4428-a263-9a1d447ad8a5" providerId="ADAL" clId="{CC7EF75E-90E4-4F86-92BE-440A9B90C493}" dt="2026-10-14T08:43:16.098" v="256" actId="20577"/>
          <ac:spMkLst>
            <pc:docMk/>
            <pc:sldMk cId="1825404221" sldId="262"/>
            <ac:spMk id="5" creationId="{D1499A75-BA99-C451-6133-CA208125C2AD}"/>
          </ac:spMkLst>
        </pc:spChg>
        <pc:spChg chg="add mod">
          <ac:chgData name="Hritika Ranjan" userId="ce004b23-30b3-4428-a263-9a1d447ad8a5" providerId="ADAL" clId="{CC7EF75E-90E4-4F86-92BE-440A9B90C493}" dt="2026-10-14T08:43:40.992" v="282" actId="20577"/>
          <ac:spMkLst>
            <pc:docMk/>
            <pc:sldMk cId="1825404221" sldId="262"/>
            <ac:spMk id="6" creationId="{B4B5134E-F77A-1B55-A972-41F59528897F}"/>
          </ac:spMkLst>
        </pc:spChg>
      </pc:sldChg>
      <pc:sldChg chg="delSp modSp add mod setBg">
        <pc:chgData name="Hritika Ranjan" userId="ce004b23-30b3-4428-a263-9a1d447ad8a5" providerId="ADAL" clId="{CC7EF75E-90E4-4F86-92BE-440A9B90C493}" dt="2026-10-14T08:54:07.709" v="300" actId="478"/>
        <pc:sldMkLst>
          <pc:docMk/>
          <pc:sldMk cId="0" sldId="263"/>
        </pc:sldMkLst>
        <pc:spChg chg="mod">
          <ac:chgData name="Hritika Ranjan" userId="ce004b23-30b3-4428-a263-9a1d447ad8a5" providerId="ADAL" clId="{CC7EF75E-90E4-4F86-92BE-440A9B90C493}" dt="2026-10-14T08:53:35.114" v="290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Hritika Ranjan" userId="ce004b23-30b3-4428-a263-9a1d447ad8a5" providerId="ADAL" clId="{CC7EF75E-90E4-4F86-92BE-440A9B90C493}" dt="2026-10-14T08:53:52.674" v="297" actId="20577"/>
          <ac:spMkLst>
            <pc:docMk/>
            <pc:sldMk cId="0" sldId="263"/>
            <ac:spMk id="7" creationId="{00000000-0000-0000-0000-000000000000}"/>
          </ac:spMkLst>
        </pc:spChg>
        <pc:spChg chg="del">
          <ac:chgData name="Hritika Ranjan" userId="ce004b23-30b3-4428-a263-9a1d447ad8a5" providerId="ADAL" clId="{CC7EF75E-90E4-4F86-92BE-440A9B90C493}" dt="2026-10-14T08:53:32.227" v="288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Hritika Ranjan" userId="ce004b23-30b3-4428-a263-9a1d447ad8a5" providerId="ADAL" clId="{CC7EF75E-90E4-4F86-92BE-440A9B90C493}" dt="2026-10-14T08:53:56.664" v="298" actId="478"/>
          <ac:spMkLst>
            <pc:docMk/>
            <pc:sldMk cId="0" sldId="263"/>
            <ac:spMk id="13" creationId="{00000000-0000-0000-0000-000000000000}"/>
          </ac:spMkLst>
        </pc:spChg>
        <pc:spChg chg="del mod">
          <ac:chgData name="Hritika Ranjan" userId="ce004b23-30b3-4428-a263-9a1d447ad8a5" providerId="ADAL" clId="{CC7EF75E-90E4-4F86-92BE-440A9B90C493}" dt="2026-10-14T08:54:07.709" v="300" actId="478"/>
          <ac:spMkLst>
            <pc:docMk/>
            <pc:sldMk cId="0" sldId="263"/>
            <ac:spMk id="18" creationId="{00000000-0000-0000-0000-000000000000}"/>
          </ac:spMkLst>
        </pc:spChg>
      </pc:sldChg>
      <pc:sldChg chg="new del">
        <pc:chgData name="Hritika Ranjan" userId="ce004b23-30b3-4428-a263-9a1d447ad8a5" providerId="ADAL" clId="{CC7EF75E-90E4-4F86-92BE-440A9B90C493}" dt="2026-10-14T08:53:44.243" v="292" actId="680"/>
        <pc:sldMkLst>
          <pc:docMk/>
          <pc:sldMk cId="2371212879" sldId="264"/>
        </pc:sldMkLst>
      </pc:sldChg>
      <pc:sldChg chg="addSp modSp new del mod">
        <pc:chgData name="Hritika Ranjan" userId="ce004b23-30b3-4428-a263-9a1d447ad8a5" providerId="ADAL" clId="{CC7EF75E-90E4-4F86-92BE-440A9B90C493}" dt="2026-10-14T09:01:41.181" v="344" actId="47"/>
        <pc:sldMkLst>
          <pc:docMk/>
          <pc:sldMk cId="2906483309" sldId="264"/>
        </pc:sldMkLst>
        <pc:spChg chg="add mod">
          <ac:chgData name="Hritika Ranjan" userId="ce004b23-30b3-4428-a263-9a1d447ad8a5" providerId="ADAL" clId="{CC7EF75E-90E4-4F86-92BE-440A9B90C493}" dt="2026-10-14T09:00:01.600" v="342" actId="20577"/>
          <ac:spMkLst>
            <pc:docMk/>
            <pc:sldMk cId="2906483309" sldId="264"/>
            <ac:spMk id="2" creationId="{DB2E0C16-B6B6-7142-6D2F-CD74167CC2BE}"/>
          </ac:spMkLst>
        </pc:spChg>
      </pc:sldChg>
      <pc:sldChg chg="add setBg">
        <pc:chgData name="Hritika Ranjan" userId="ce004b23-30b3-4428-a263-9a1d447ad8a5" providerId="ADAL" clId="{CC7EF75E-90E4-4F86-92BE-440A9B90C493}" dt="2026-10-14T09:01:39.231" v="343"/>
        <pc:sldMkLst>
          <pc:docMk/>
          <pc:sldMk cId="0" sldId="26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8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The Responsible AI risk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Name the specific risk (e.g. unauthorized actions, poisoned memory, hidden bias, runaway cost). What can go wrong?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Why it matters for agentic AI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Why is this risk bigger or different for autonomous, multi-step agents than for a plain chatbot?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Who is affected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Beneficiaries and context: which users, enterprises, or parts of society gain from this being solved?</a:t>
            </a:r>
            <a:endParaRPr lang="en-US" sz="150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Intended outcome</a:t>
            </a:r>
            <a:endParaRPr lang="en-US" sz="15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>
                <a:solidFill>
                  <a:schemeClr val="accent4"/>
                </a:solidFill>
              </a:rPr>
              <a:t>What real-world harm is reduced, and how will you know it worked?</a:t>
            </a:r>
            <a:endParaRPr lang="en-US" sz="15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Originality of the solution and approach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Creative use of AI, automation, evaluation methods or agent frameworks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</a:rPr>
              <a:t>Architecture diagram, models and framework and technology (Reasoning Behind the Chosen Approach)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Scalability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Production readiness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2"/>
                </a:solidFill>
                <a:highlight>
                  <a:srgbClr val="FFFF00"/>
                </a:highlight>
              </a:rPr>
              <a:t>Cost optimization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Define measurable metrics and sample test cases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Minimum 5 Unique/market appropriate metrics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>
              <a:solidFill>
                <a:schemeClr val="tx2"/>
              </a:solidFill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88952" cy="3965076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0" y="970416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400">
                <a:solidFill>
                  <a:schemeClr val="accent1"/>
                </a:solidFill>
              </a:rPr>
              <a:t>INFOSYS  ×  IISc  ×  NVIDIA</a:t>
            </a:r>
            <a:endParaRPr lang="en-US" sz="2400"/>
          </a:p>
        </p:txBody>
      </p:sp>
      <p:sp>
        <p:nvSpPr>
          <p:cNvPr id="4" name="Title"/>
          <p:cNvSpPr txBox="1"/>
          <p:nvPr/>
        </p:nvSpPr>
        <p:spPr>
          <a:xfrm>
            <a:off x="0" y="1799658"/>
            <a:ext cx="12188952" cy="1371600"/>
          </a:xfrm>
          <a:prstGeom prst="rect">
            <a:avLst/>
          </a:prstGeom>
          <a:noFill/>
          <a:ln/>
        </p:spPr>
        <p:txBody>
          <a:bodyPr wrap="square" lIns="457200" tIns="0" rIns="457200" bIns="0" rtlCol="0" anchor="ctr"/>
          <a:lstStyle/>
          <a:p>
            <a:pPr marL="0" indent="0" algn="ctr">
              <a:spcAft>
                <a:spcPts val="400"/>
              </a:spcAft>
              <a:buNone/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AEGIS 2026</a:t>
            </a:r>
            <a:endParaRPr lang="en-US" sz="8400"/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ZERO-TRUST MULTI-AGENT GOVERNANCE CONTROL PLANE</a:t>
            </a:r>
          </a:p>
          <a:p>
            <a:pPr algn="ctr">
              <a:spcAft>
                <a:spcPts val="800"/>
              </a:spcAft>
            </a:pPr>
            <a:r>
              <a:rPr sz="1200" b="0">
                <a:solidFill>
                  <a:srgbClr val="EEF2F8"/>
                </a:solidFill>
                <a:latin typeface="Segoe UI"/>
              </a:rPr>
              <a:t>Problem Statement #01: Agent Identity, Failure Recovery &amp; Kill-Switch Testing  ·  Enterprise Treasury Case Study</a:t>
            </a:r>
          </a:p>
          <a:p>
            <a:pPr algn="ctr"/>
            <a:r>
              <a:rPr sz="1150" b="1">
                <a:solidFill>
                  <a:srgbClr val="0B7FC7"/>
                </a:solidFill>
                <a:latin typeface="Segoe UI"/>
              </a:rPr>
              <a:t>Team: Re-Active Species   |   Lead: D Abhijith   |   Members: Dhakshith Raam, D Abhijith, Dheeraj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0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ORGANISED BY</a:t>
            </a:r>
            <a:endParaRPr lang="en-US" sz="1200"/>
          </a:p>
        </p:txBody>
      </p:sp>
      <p:pic>
        <p:nvPicPr>
          <p:cNvPr id="8" name="Image 0" descr="Infosy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86" y="4983480"/>
            <a:ext cx="2510811" cy="1280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62984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HOSTED BY</a:t>
            </a:r>
            <a:endParaRPr lang="en-US" sz="1200"/>
          </a:p>
        </p:txBody>
      </p:sp>
      <p:pic>
        <p:nvPicPr>
          <p:cNvPr id="10" name="Image 1" descr="IISc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3819" y="4983480"/>
            <a:ext cx="1461315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62984" y="4572000"/>
            <a:ext cx="0" cy="1737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8125968" y="4526280"/>
            <a:ext cx="4062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chemeClr val="accent6"/>
                </a:solidFill>
              </a:rPr>
              <a:t>TECHNOLOGY PARTNER</a:t>
            </a:r>
            <a:endParaRPr lang="en-US" sz="1200"/>
          </a:p>
        </p:txBody>
      </p:sp>
      <p:pic>
        <p:nvPicPr>
          <p:cNvPr id="13" name="Image 2" descr="NVIDI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860" y="5361804"/>
            <a:ext cx="2743200" cy="52351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125968" y="4572000"/>
            <a:ext cx="0" cy="173736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6"/>
                </a:solidFill>
              </a:rPr>
              <a:t>AEGIS 2026  ·  TEAM OVERVIEW</a:t>
            </a:r>
            <a:endParaRPr lang="en-US" sz="1200"/>
          </a:p>
        </p:txBody>
      </p:sp>
      <p:sp>
        <p:nvSpPr>
          <p:cNvPr id="3" name="Title"/>
          <p:cNvSpPr txBox="1"/>
          <p:nvPr/>
        </p:nvSpPr>
        <p:spPr>
          <a:xfrm>
            <a:off x="457200" y="731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 and what we are building</a:t>
            </a:r>
            <a:endParaRPr lang="en-US" sz="3600"/>
          </a:p>
        </p:txBody>
      </p:sp>
      <p:sp>
        <p:nvSpPr>
          <p:cNvPr id="4" name="Card 1 body"/>
          <p:cNvSpPr/>
          <p:nvPr/>
        </p:nvSpPr>
        <p:spPr>
          <a:xfrm>
            <a:off x="457200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82880" rIns="182880" tIns="182880" bIns="182880"/>
          <a:lstStyle/>
          <a:p>
            <a:pPr>
              <a:spcAft>
                <a:spcPts val="400"/>
              </a:spcAft>
              <a:defRPr sz="1200" b="1">
                <a:solidFill>
                  <a:srgbClr val="0B7FC7"/>
                </a:solidFill>
                <a:latin typeface="Segoe UI"/>
              </a:defRPr>
            </a:pPr>
            <a:r>
              <a:t>TEAM: RE-ACTIVE SPECIES</a:t>
            </a:r>
            <a:endParaRPr lang="en-US"/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D Abhijith (Lead Architect): </a:t>
            </a:r>
            <a:r>
              <a:rPr sz="919" b="0">
                <a:solidFill>
                  <a:srgbClr val="0F1B33"/>
                </a:solidFill>
                <a:latin typeface="Segoe UI"/>
              </a:rPr>
              <a:t>Architected domain-agnostic Control Plane Kernel (aegis_core), Ed25519 JWT IAM, 4-Gate Accounting Verification, and C1–C6 engines.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Dhakshith Raam (Orchestration Lead): </a:t>
            </a:r>
            <a:r>
              <a:rPr sz="919" b="0">
                <a:solidFill>
                  <a:srgbClr val="0F1B33"/>
                </a:solidFill>
                <a:latin typeface="Segoe UI"/>
              </a:rPr>
              <a:t>Engineered multi-agent dual-bulkhead fleet (L0→L2), NVIDIA NIM LLM reasoning (Nemotron-3.5-lightning), and JSON action protocol.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Dheeraj (Resilience Lead): </a:t>
            </a:r>
            <a:r>
              <a:rPr sz="919" b="0">
                <a:solidFill>
                  <a:srgbClr val="0F1B33"/>
                </a:solidFill>
                <a:latin typeface="Segoe UI"/>
              </a:rPr>
              <a:t>Built multi-tier kill-switches (sub-50ms Global Hard Kill, Soft-Freeze, Surgical Rollback), C6 Chaos Monkey, and Causal BFS blast containment.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5A6B85"/>
                </a:solidFill>
                <a:latin typeface="Segoe UI"/>
              </a:rPr>
              <a:t>COURSEWORK &amp; TECHNICAL FOUNDATION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5A6B85"/>
                </a:solidFill>
                <a:latin typeface="Segoe UI"/>
              </a:rPr>
              <a:t>• </a:t>
            </a:r>
            <a:r>
              <a:rPr sz="900" b="1">
                <a:solidFill>
                  <a:srgbClr val="5A6B85"/>
                </a:solidFill>
                <a:latin typeface="Segoe UI"/>
              </a:rPr>
              <a:t>BITS Pilani: </a:t>
            </a:r>
            <a:r>
              <a:rPr sz="900" b="0">
                <a:solidFill>
                  <a:srgbClr val="0F1B33"/>
                </a:solidFill>
                <a:latin typeface="Segoe UI"/>
              </a:rPr>
              <a:t>Client-Server Network Programming (Asymmetric crypto, JWT auth, socket lifecycle).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5A6B85"/>
                </a:solidFill>
                <a:latin typeface="Segoe UI"/>
              </a:rPr>
              <a:t>• </a:t>
            </a:r>
            <a:r>
              <a:rPr sz="900" b="1">
                <a:solidFill>
                  <a:srgbClr val="5A6B85"/>
                </a:solidFill>
                <a:latin typeface="Segoe UI"/>
              </a:rPr>
              <a:t>Distributed Systems: </a:t>
            </a:r>
            <a:r>
              <a:rPr sz="900" b="0">
                <a:solidFill>
                  <a:srgbClr val="0F1B33"/>
                </a:solidFill>
                <a:latin typeface="Segoe UI"/>
              </a:rPr>
              <a:t>Cloud Computing Concepts (Vector clocks, causal DAG BFS, and versioned SQLite snapshots).</a:t>
            </a:r>
          </a:p>
        </p:txBody>
      </p:sp>
      <p:sp>
        <p:nvSpPr>
          <p:cNvPr id="5" name="Card 1 header"/>
          <p:cNvSpPr/>
          <p:nvPr/>
        </p:nvSpPr>
        <p:spPr>
          <a:xfrm>
            <a:off x="457200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/>
          </a:p>
        </p:txBody>
      </p:sp>
      <p:sp>
        <p:nvSpPr>
          <p:cNvPr id="7" name="Card 1 heading"/>
          <p:cNvSpPr txBox="1"/>
          <p:nvPr/>
        </p:nvSpPr>
        <p:spPr>
          <a:xfrm>
            <a:off x="1417320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Team</a:t>
            </a:r>
            <a:br>
              <a:rPr lang="en-US" sz="2000" b="1">
                <a:solidFill>
                  <a:schemeClr val="bg1"/>
                </a:solidFill>
              </a:rPr>
            </a:br>
            <a:r>
              <a:rPr lang="en-US" sz="2000" b="1">
                <a:solidFill>
                  <a:schemeClr val="bg1"/>
                </a:solidFill>
              </a:rPr>
              <a:t>Introduction</a:t>
            </a:r>
            <a:endParaRPr lang="en-US" sz="2000"/>
          </a:p>
        </p:txBody>
      </p:sp>
      <p:sp>
        <p:nvSpPr>
          <p:cNvPr id="9" name="Card 2 body"/>
          <p:cNvSpPr/>
          <p:nvPr/>
        </p:nvSpPr>
        <p:spPr>
          <a:xfrm>
            <a:off x="4306824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82880" rIns="182880" tIns="182880" bIns="182880"/>
          <a:lstStyle/>
          <a:p>
            <a:pPr>
              <a:spcAft>
                <a:spcPts val="400"/>
              </a:spcAft>
              <a:defRPr sz="1200" b="1">
                <a:solidFill>
                  <a:srgbClr val="0B7FC7"/>
                </a:solidFill>
                <a:latin typeface="Segoe UI"/>
              </a:defRPr>
            </a:pPr>
            <a:r>
              <a:t>PROBLEM STATEMENT #01 (FINOPS)</a:t>
            </a:r>
            <a:endParaRPr lang="en-US"/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Enterprise Scenario: </a:t>
            </a:r>
            <a:r>
              <a:rPr sz="919" b="0">
                <a:solidFill>
                  <a:srgbClr val="0F1B33"/>
                </a:solidFill>
                <a:latin typeface="Segoe UI"/>
              </a:rPr>
              <a:t>Corporate Treasury settling a high-value $2,000,000 USD → EUR invoice for Siemens Energy AG (INV-2026-9981).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D93025"/>
                </a:solidFill>
                <a:latin typeface="Segoe UI"/>
              </a:rPr>
              <a:t>• </a:t>
            </a:r>
            <a:r>
              <a:rPr sz="919" b="1">
                <a:solidFill>
                  <a:srgbClr val="D93025"/>
                </a:solidFill>
                <a:latin typeface="Segoe UI"/>
              </a:rPr>
              <a:t>Privilege Escalation: </a:t>
            </a:r>
            <a:r>
              <a:rPr sz="919" b="0">
                <a:solidFill>
                  <a:srgbClr val="0F1B33"/>
                </a:solidFill>
                <a:latin typeface="Segoe UI"/>
              </a:rPr>
              <a:t>Low-privilege worker (FX_Quote_Reader) attempting unauthorized direct execution of swift:wire.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D93025"/>
                </a:solidFill>
                <a:latin typeface="Segoe UI"/>
              </a:rPr>
              <a:t>• </a:t>
            </a:r>
            <a:r>
              <a:rPr sz="919" b="1">
                <a:solidFill>
                  <a:srgbClr val="D93025"/>
                </a:solidFill>
                <a:latin typeface="Segoe UI"/>
              </a:rPr>
              <a:t>Silent Data Poisoning: </a:t>
            </a:r>
            <a:r>
              <a:rPr sz="919" b="0">
                <a:solidFill>
                  <a:srgbClr val="0F1B33"/>
                </a:solidFill>
                <a:latin typeface="Segoe UI"/>
              </a:rPr>
              <a:t>Corrupted FX rate (0.9192 → 9.200) propagating across unmonitored A2A hops, triggering $18.4M wire instead of $1.84M.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D93025"/>
                </a:solidFill>
                <a:latin typeface="Segoe UI"/>
              </a:rPr>
              <a:t>• </a:t>
            </a:r>
            <a:r>
              <a:rPr sz="919" b="1">
                <a:solidFill>
                  <a:srgbClr val="D93025"/>
                </a:solidFill>
                <a:latin typeface="Segoe UI"/>
              </a:rPr>
              <a:t>Cascading Outages: </a:t>
            </a:r>
            <a:r>
              <a:rPr sz="919" b="0">
                <a:solidFill>
                  <a:srgbClr val="0F1B33"/>
                </a:solidFill>
                <a:latin typeface="Segoe UI"/>
              </a:rPr>
              <a:t>Banking API 503s triggering runaway retry loops, hung threads, and full pipeline restart overhead.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D93025"/>
                </a:solidFill>
                <a:latin typeface="Segoe UI"/>
              </a:rPr>
              <a:t>• </a:t>
            </a:r>
            <a:r>
              <a:rPr sz="919" b="1">
                <a:solidFill>
                  <a:srgbClr val="D93025"/>
                </a:solidFill>
                <a:latin typeface="Segoe UI"/>
              </a:rPr>
              <a:t>Unbounded Blast Radius: </a:t>
            </a:r>
            <a:r>
              <a:rPr sz="919" b="0">
                <a:solidFill>
                  <a:srgbClr val="0F1B33"/>
                </a:solidFill>
                <a:latin typeface="Segoe UI"/>
              </a:rPr>
              <a:t>Settlement failure cascading to terminate compliance, sanctions screening, and audit filing tasks.</a:t>
            </a:r>
          </a:p>
        </p:txBody>
      </p:sp>
      <p:sp>
        <p:nvSpPr>
          <p:cNvPr id="10" name="Card 2 header"/>
          <p:cNvSpPr/>
          <p:nvPr/>
        </p:nvSpPr>
        <p:spPr>
          <a:xfrm>
            <a:off x="4306824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35424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/>
          </a:p>
        </p:txBody>
      </p:sp>
      <p:sp>
        <p:nvSpPr>
          <p:cNvPr id="12" name="Card 2 heading"/>
          <p:cNvSpPr txBox="1"/>
          <p:nvPr/>
        </p:nvSpPr>
        <p:spPr>
          <a:xfrm>
            <a:off x="5266944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Selected problem statement</a:t>
            </a:r>
            <a:endParaRPr lang="en-US" sz="2000"/>
          </a:p>
        </p:txBody>
      </p:sp>
      <p:sp>
        <p:nvSpPr>
          <p:cNvPr id="14" name="Card 3 body"/>
          <p:cNvSpPr/>
          <p:nvPr/>
        </p:nvSpPr>
        <p:spPr>
          <a:xfrm>
            <a:off x="8156448" y="2606040"/>
            <a:ext cx="3575304" cy="35661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82880" rIns="182880" tIns="182880" bIns="182880"/>
          <a:lstStyle/>
          <a:p>
            <a:pPr>
              <a:spcAft>
                <a:spcPts val="400"/>
              </a:spcAft>
              <a:defRPr sz="1200" b="1">
                <a:solidFill>
                  <a:srgbClr val="76B900"/>
                </a:solidFill>
                <a:latin typeface="Segoe UI"/>
              </a:defRPr>
            </a:pPr>
            <a:r>
              <a:t>ZERO-TRUST CONTROL PLANE</a:t>
            </a:r>
            <a:endParaRPr lang="en-US"/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Out-of-Band Gateway: </a:t>
            </a:r>
            <a:r>
              <a:rPr sz="919" b="0">
                <a:solidFill>
                  <a:srgbClr val="0F1B33"/>
                </a:solidFill>
                <a:latin typeface="Segoe UI"/>
              </a:rPr>
              <a:t>FastAPI proxy (:8000) mediating 100% of tool calls and A2A messages via Bearer Ed25519 JWT headers.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6 Domain Engines (C1–C6): </a:t>
            </a:r>
            <a:r>
              <a:rPr sz="919" b="0">
                <a:solidFill>
                  <a:srgbClr val="0F1B33"/>
                </a:solidFill>
                <a:latin typeface="Segoe UI"/>
              </a:rPr>
              <a:t>C1 IAM (attenuated JWT), C2 Policy (RBAC), C3 Task (sockets), C4 Lineage (Vector DAG), C5 Checkpoint (SQLite), C6 Chaos Monkey.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4-Gate Accounting Guardrails: </a:t>
            </a:r>
            <a:r>
              <a:rPr sz="919" b="0">
                <a:solidFill>
                  <a:srgbClr val="0F1B33"/>
                </a:solidFill>
                <a:latin typeface="Segoe UI"/>
              </a:rPr>
              <a:t>Gate L1 Schema → Gate L2 HMAC Provenance → Gate L3 Math Invariant (|USD×FX - EUR| &lt; 0.01) → Gate L4 Pre-Commit.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Multi-Tier Kill-Switches: </a:t>
            </a:r>
            <a:r>
              <a:rPr sz="919" b="0">
                <a:solidFill>
                  <a:srgbClr val="0F1B33"/>
                </a:solidFill>
                <a:latin typeface="Segoe UI"/>
              </a:rPr>
              <a:t>GLOBAL_HARD (&lt;5ms), SOFT_FREEZE (with Governor approval &amp; parameter override), and SURGICAL rollback &amp; respawn.</a:t>
            </a:r>
          </a:p>
          <a:p>
            <a:pPr>
              <a:spcAft>
                <a:spcPts val="300"/>
              </a:spcAft>
            </a:pPr>
            <a:r>
              <a:rPr sz="919" b="1">
                <a:solidFill>
                  <a:srgbClr val="0F1B33"/>
                </a:solidFill>
                <a:latin typeface="Segoe UI"/>
              </a:rPr>
              <a:t>• </a:t>
            </a:r>
            <a:r>
              <a:rPr sz="919" b="1">
                <a:solidFill>
                  <a:srgbClr val="0F1B33"/>
                </a:solidFill>
                <a:latin typeface="Segoe UI"/>
              </a:rPr>
              <a:t>Live Operator Dashboard: </a:t>
            </a:r>
            <a:r>
              <a:rPr sz="919" b="0">
                <a:solidFill>
                  <a:srgbClr val="0F1B33"/>
                </a:solidFill>
                <a:latin typeface="Segoe UI"/>
              </a:rPr>
              <a:t>Streamlit console (:8501) with live SVG Causal DAG, step playback, rollback diffs, and chaos controls.</a:t>
            </a:r>
          </a:p>
        </p:txBody>
      </p:sp>
      <p:sp>
        <p:nvSpPr>
          <p:cNvPr id="15" name="Card 3 header"/>
          <p:cNvSpPr/>
          <p:nvPr/>
        </p:nvSpPr>
        <p:spPr>
          <a:xfrm>
            <a:off x="8156448" y="1691640"/>
            <a:ext cx="3575304" cy="9144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85048" y="16916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/>
          </a:p>
        </p:txBody>
      </p:sp>
      <p:sp>
        <p:nvSpPr>
          <p:cNvPr id="17" name="Card 3 heading"/>
          <p:cNvSpPr txBox="1"/>
          <p:nvPr/>
        </p:nvSpPr>
        <p:spPr>
          <a:xfrm>
            <a:off x="9116568" y="169164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Your solution overview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000" b="1">
                <a:solidFill>
                  <a:srgbClr val="0A1F4B"/>
                </a:solidFill>
                <a:latin typeface="Segoe UI"/>
              </a:defRPr>
            </a:pPr>
            <a:r>
              <a:t>1. Solution Relevance &amp; Impact: Securing Enterprise Autonomous FinOps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10" name="Card 1 body">
            <a:extLst>
              <a:ext uri="{FF2B5EF4-FFF2-40B4-BE49-F238E27FC236}">
                <a16:creationId xmlns:a16="http://schemas.microsoft.com/office/drawing/2014/main" id="{64EFEDC8-10AC-E4E7-110C-F3F8A4A39142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85800" y="1188720"/>
            <a:ext cx="5257800" cy="51206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100" b="1">
                <a:solidFill>
                  <a:srgbClr val="D93025"/>
                </a:solidFill>
                <a:latin typeface="Segoe UI"/>
              </a:defRPr>
            </a:pPr>
            <a:r>
              <a:t>CRITICAL PRODUCTION THREATS (Why Ungoverned Agents Fail)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D93025"/>
                </a:solidFill>
                <a:latin typeface="Segoe UI"/>
              </a:rPr>
              <a:t>• </a:t>
            </a:r>
            <a:r>
              <a:rPr sz="960" b="1">
                <a:solidFill>
                  <a:srgbClr val="D93025"/>
                </a:solidFill>
                <a:latin typeface="Segoe UI"/>
              </a:rPr>
              <a:t>🔴 Privilege Escalation &amp; Confused Deputy: </a:t>
            </a:r>
            <a:r>
              <a:rPr sz="960" b="0">
                <a:solidFill>
                  <a:srgbClr val="0F1B33"/>
                </a:solidFill>
                <a:latin typeface="Segoe UI"/>
              </a:rPr>
              <a:t>Prompt injections or hallucinating workers execute swift:wire directly, draining corporate accounts without authorization.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D93025"/>
                </a:solidFill>
                <a:latin typeface="Segoe UI"/>
              </a:rPr>
              <a:t>• </a:t>
            </a:r>
            <a:r>
              <a:rPr sz="960" b="1">
                <a:solidFill>
                  <a:srgbClr val="D93025"/>
                </a:solidFill>
                <a:latin typeface="Segoe UI"/>
              </a:rPr>
              <a:t>🔴 Silent Data Poisoning &amp; Value Tampering: </a:t>
            </a:r>
            <a:r>
              <a:rPr sz="960" b="0">
                <a:solidFill>
                  <a:srgbClr val="0F1B33"/>
                </a:solidFill>
                <a:latin typeface="Segoe UI"/>
              </a:rPr>
              <a:t>LLM hallucinations or corrupted feeds mutate financial parameters (0.9192 → 9.200); unmonitored downstream agents wire $18.4M instead of $1.84M.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D93025"/>
                </a:solidFill>
                <a:latin typeface="Segoe UI"/>
              </a:rPr>
              <a:t>• </a:t>
            </a:r>
            <a:r>
              <a:rPr sz="960" b="1">
                <a:solidFill>
                  <a:srgbClr val="D93025"/>
                </a:solidFill>
                <a:latin typeface="Segoe UI"/>
              </a:rPr>
              <a:t>🔴 Cascading Outages &amp; Zombie Loops: </a:t>
            </a:r>
            <a:r>
              <a:rPr sz="960" b="0">
                <a:solidFill>
                  <a:srgbClr val="0F1B33"/>
                </a:solidFill>
                <a:latin typeface="Segoe UI"/>
              </a:rPr>
              <a:t>Banking API 503s trigger runaway retry storms, exhausting token budgets, locking worker threads, and forcing full-pipeline restarts.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D93025"/>
                </a:solidFill>
                <a:latin typeface="Segoe UI"/>
              </a:rPr>
              <a:t>• </a:t>
            </a:r>
            <a:r>
              <a:rPr sz="960" b="1">
                <a:solidFill>
                  <a:srgbClr val="D93025"/>
                </a:solidFill>
                <a:latin typeface="Segoe UI"/>
              </a:rPr>
              <a:t>🔴 Unbounded Blast Radius: </a:t>
            </a:r>
            <a:r>
              <a:rPr sz="960" b="0">
                <a:solidFill>
                  <a:srgbClr val="0F1B33"/>
                </a:solidFill>
                <a:latin typeface="Segoe UI"/>
              </a:rPr>
              <a:t>A single failure in payment settlement crashes the shared runtime, terminating unrelated compliance, sanctions screening, and legal audit filings.</a:t>
            </a:r>
          </a:p>
          <a:p>
            <a:pPr>
              <a:spcAft>
                <a:spcPts val="400"/>
              </a:spcAft>
            </a:pPr>
            <a:r>
              <a:rPr sz="960" b="1">
                <a:solidFill>
                  <a:srgbClr val="D93025"/>
                </a:solidFill>
                <a:latin typeface="Segoe UI"/>
              </a:rPr>
              <a:t>• </a:t>
            </a:r>
            <a:r>
              <a:rPr sz="960" b="1">
                <a:solidFill>
                  <a:srgbClr val="D93025"/>
                </a:solidFill>
                <a:latin typeface="Segoe UI"/>
              </a:rPr>
              <a:t>🔴 Absence of Deterministic Human Control: </a:t>
            </a:r>
            <a:r>
              <a:rPr sz="960" b="0">
                <a:solidFill>
                  <a:srgbClr val="0F1B33"/>
                </a:solidFill>
                <a:latin typeface="Segoe UI"/>
              </a:rPr>
              <a:t>Autonomous agents commit irreversible external wire transfers with zero out-of-band gate or human override mechanisms.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57800" cy="5120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100" b="1">
                <a:solidFill>
                  <a:srgbClr val="1E8E3E"/>
                </a:solidFill>
                <a:latin typeface="Segoe UI"/>
              </a:defRPr>
            </a:pPr>
            <a:r>
              <a:t>AEGIS ZERO-TRUST SOLUTION &amp; MEASURED IMPACT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1E8E3E"/>
                </a:solidFill>
                <a:latin typeface="Segoe UI"/>
              </a:rPr>
              <a:t>• </a:t>
            </a:r>
            <a:r>
              <a:rPr sz="960" b="1">
                <a:solidFill>
                  <a:srgbClr val="1E8E3E"/>
                </a:solidFill>
                <a:latin typeface="Segoe UI"/>
              </a:rPr>
              <a:t>🟢 Guaranteed Least Privilege (C1+C2): </a:t>
            </a:r>
            <a:r>
              <a:rPr sz="960" b="0">
                <a:solidFill>
                  <a:srgbClr val="0F1B33"/>
                </a:solidFill>
                <a:latin typeface="Segoe UI"/>
              </a:rPr>
              <a:t>RFC 8037 Ed25519 JWT passports enforce mathematical attenuation (S_child ⊆ S_parent). Unauthorized calls blocked with HTTP 403 in &lt;2ms (100% RBAC Block Rate).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1E8E3E"/>
                </a:solidFill>
                <a:latin typeface="Segoe UI"/>
              </a:rPr>
              <a:t>• </a:t>
            </a:r>
            <a:r>
              <a:rPr sz="960" b="1">
                <a:solidFill>
                  <a:srgbClr val="1E8E3E"/>
                </a:solidFill>
                <a:latin typeface="Segoe UI"/>
              </a:rPr>
              <a:t>🟢 Gate L2 HMAC Provenance &amp; L3 Invariants: </a:t>
            </a:r>
            <a:r>
              <a:rPr sz="960" b="0">
                <a:solidFill>
                  <a:srgbClr val="0F1B33"/>
                </a:solidFill>
                <a:latin typeface="Segoe UI"/>
              </a:rPr>
              <a:t>Raw tool outputs hashed at ingestion. Gate L3 verifies math conservation (|USD×FX - EUR| &lt; 0.01). Gate L4 Pre-Commit blocks wire if tampered (Zero Financial Loss).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1E8E3E"/>
                </a:solidFill>
                <a:latin typeface="Segoe UI"/>
              </a:rPr>
              <a:t>• </a:t>
            </a:r>
            <a:r>
              <a:rPr sz="960" b="1">
                <a:solidFill>
                  <a:srgbClr val="1E8E3E"/>
                </a:solidFill>
                <a:latin typeface="Segoe UI"/>
              </a:rPr>
              <a:t>🟢 Automated Failover &amp; Sub-50ms MTTR (C5): </a:t>
            </a:r>
            <a:r>
              <a:rPr sz="960" b="0">
                <a:solidFill>
                  <a:srgbClr val="0F1B33"/>
                </a:solidFill>
                <a:latin typeface="Segoe UI"/>
              </a:rPr>
              <a:t>Bloomberg 503 triggers instant fallback to Reuters. Tainted state rolls back to clean SQLite checkpoint in &lt;50ms without restarting healthy branches.</a:t>
            </a:r>
          </a:p>
          <a:p>
            <a:pPr>
              <a:spcAft>
                <a:spcPts val="900"/>
              </a:spcAft>
            </a:pPr>
            <a:r>
              <a:rPr sz="960" b="1">
                <a:solidFill>
                  <a:srgbClr val="1E8E3E"/>
                </a:solidFill>
                <a:latin typeface="Segoe UI"/>
              </a:rPr>
              <a:t>• </a:t>
            </a:r>
            <a:r>
              <a:rPr sz="960" b="1">
                <a:solidFill>
                  <a:srgbClr val="1E8E3E"/>
                </a:solidFill>
                <a:latin typeface="Segoe UI"/>
              </a:rPr>
              <a:t>🟢 Dual-Bulkhead Causal BFS Isolation (C4): </a:t>
            </a:r>
            <a:r>
              <a:rPr sz="960" b="0">
                <a:solidFill>
                  <a:srgbClr val="0F1B33"/>
                </a:solidFill>
                <a:latin typeface="Segoe UI"/>
              </a:rPr>
              <a:t>Settlement and Compliance partitioned into isolated bulkheads. Causal BFS isolates tainted subtrees with 100% Blast Radius Containment (R_blast = 1.0).</a:t>
            </a:r>
          </a:p>
          <a:p>
            <a:pPr>
              <a:spcAft>
                <a:spcPts val="400"/>
              </a:spcAft>
            </a:pPr>
            <a:r>
              <a:rPr sz="960" b="1">
                <a:solidFill>
                  <a:srgbClr val="1E8E3E"/>
                </a:solidFill>
                <a:latin typeface="Segoe UI"/>
              </a:rPr>
              <a:t>• </a:t>
            </a:r>
            <a:r>
              <a:rPr sz="960" b="1">
                <a:solidFill>
                  <a:srgbClr val="1E8E3E"/>
                </a:solidFill>
                <a:latin typeface="Segoe UI"/>
              </a:rPr>
              <a:t>🟢 Multi-Tier Kill-Switch &amp; Governor Queue (C3): </a:t>
            </a:r>
            <a:r>
              <a:rPr sz="960" b="0">
                <a:solidFill>
                  <a:srgbClr val="0F1B33"/>
                </a:solidFill>
                <a:latin typeface="Segoe UI"/>
              </a:rPr>
              <a:t>Global Hard Kill in &lt;5ms; Soft-Freeze enqueues wires into Governor Review Queue for human approval, parameter modification (overridden=True), or rejection.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000" b="1">
                <a:solidFill>
                  <a:srgbClr val="0A1F4B"/>
                </a:solidFill>
                <a:latin typeface="Segoe UI"/>
              </a:defRPr>
            </a:pPr>
            <a:r>
              <a:t>2. Solution Approach, Innovation &amp; Creativity: 4 Core Breakthroughs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5" name="Card 1 body">
            <a:extLst>
              <a:ext uri="{FF2B5EF4-FFF2-40B4-BE49-F238E27FC236}">
                <a16:creationId xmlns:a16="http://schemas.microsoft.com/office/drawing/2014/main" id="{19A8019F-B449-2052-768E-6B543A890A85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5780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2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INNOVATION 01 · IDENTITY &amp; RBAC</a:t>
            </a:r>
          </a:p>
          <a:p>
            <a:pPr>
              <a:spcAft>
                <a:spcPts val="400"/>
              </a:spcAft>
              <a:defRPr sz="1050" b="1">
                <a:solidFill>
                  <a:srgbClr val="0F1B33"/>
                </a:solidFill>
                <a:latin typeface="Segoe UI"/>
              </a:defRPr>
            </a:pPr>
            <a:r>
              <a:t>Scoped Ed25519 Passports &amp; Mathematical Attenuation (C1+C2)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Asymmetric Cryptography: </a:t>
            </a:r>
            <a:r>
              <a:rPr sz="880" b="0">
                <a:solidFill>
                  <a:srgbClr val="0F1B33"/>
                </a:solidFill>
                <a:latin typeface="Segoe UI"/>
              </a:rPr>
              <a:t>Zero shared secrets; agent tokens signed via RFC 8037 Ed25519 with embedded claims (sub, parent, scopes, exp, jti).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Mathematical Attenuation: </a:t>
            </a:r>
            <a:r>
              <a:rPr sz="880" b="0">
                <a:solidFill>
                  <a:srgbClr val="0F1B33"/>
                </a:solidFill>
                <a:latin typeface="Segoe UI"/>
              </a:rPr>
              <a:t>Strict invariant S_child ⊆ S_parent. A parent cannot delegate scopes it does not hold, eliminating confused deputy flaws.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O(1) JTI Revocation Set: </a:t>
            </a:r>
            <a:r>
              <a:rPr sz="880" b="0">
                <a:solidFill>
                  <a:srgbClr val="0F1B33"/>
                </a:solidFill>
                <a:latin typeface="Segoe UI"/>
              </a:rPr>
              <a:t>Instant token revocation across all network endpoints in constant time without scanning transaction logs.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Out-of-Band Verification: </a:t>
            </a:r>
            <a:r>
              <a:rPr sz="880" b="0">
                <a:solidFill>
                  <a:srgbClr val="0F1B33"/>
                </a:solidFill>
                <a:latin typeface="Segoe UI"/>
              </a:rPr>
              <a:t>FastAPI gateway inspects Bearer JWT on every HTTP tool call and A2A dispatch in &lt;2ms, enforcing zero-trust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5780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2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INNOVATION 02 · ACCOUNTING INTEGRITY</a:t>
            </a:r>
          </a:p>
          <a:p>
            <a:pPr>
              <a:spcAft>
                <a:spcPts val="400"/>
              </a:spcAft>
              <a:defRPr sz="1050" b="1">
                <a:solidFill>
                  <a:srgbClr val="0F1B33"/>
                </a:solidFill>
                <a:latin typeface="Segoe UI"/>
              </a:defRPr>
            </a:pPr>
            <a:r>
              <a:t>4-Gate Verification Pipeline &amp; Gate L2 HMAC Provenance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Gate L1 (Pydantic Schema): </a:t>
            </a:r>
            <a:r>
              <a:rPr sz="880" b="0">
                <a:solidFill>
                  <a:srgbClr val="0F1B33"/>
                </a:solidFill>
                <a:latin typeface="Segoe UI"/>
              </a:rPr>
              <a:t>Strict schema and type validation on all incoming agent parameters prior to invocation.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Gate L2 (HMAC Provenance): </a:t>
            </a:r>
            <a:r>
              <a:rPr sz="880" b="0">
                <a:solidFill>
                  <a:srgbClr val="0F1B33"/>
                </a:solidFill>
                <a:latin typeface="Segoe UI"/>
              </a:rPr>
              <a:t>Raw tool outputs hashed at ingestion (HMAC-SHA256); receipt signatures verified across all A2A delegation hops.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Gate L3 (Financial Invariant): </a:t>
            </a:r>
            <a:r>
              <a:rPr sz="880" b="0">
                <a:solidFill>
                  <a:srgbClr val="0F1B33"/>
                </a:solidFill>
                <a:latin typeface="Segoe UI"/>
              </a:rPr>
              <a:t>Enforces mathematical conservation: |amount_usd × fx_rate - settlement_eur| &lt; 0.01. Blocks hallucinations.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Gate L4 (Pre-Commit Gate): </a:t>
            </a:r>
            <a:r>
              <a:rPr sz="880" b="0">
                <a:solidFill>
                  <a:srgbClr val="0F1B33"/>
                </a:solidFill>
                <a:latin typeface="Segoe UI"/>
              </a:rPr>
              <a:t>Final out-of-band proxy barrier executed immediately prior to swift:wire release, preventing unauthorized commitment.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94760"/>
            <a:ext cx="525780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2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INNOVATION 03 · RESILIENCE &amp; RECOVERY</a:t>
            </a:r>
          </a:p>
          <a:p>
            <a:pPr>
              <a:spcAft>
                <a:spcPts val="400"/>
              </a:spcAft>
              <a:defRPr sz="1050" b="1">
                <a:solidFill>
                  <a:srgbClr val="0F1B33"/>
                </a:solidFill>
                <a:latin typeface="Segoe UI"/>
              </a:defRPr>
            </a:pPr>
            <a:r>
              <a:t>Causal BFS Blast Radius Containment &amp; SQLite Snapshots (C4+C5)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Lineage DAG &amp; Vector Clocks: </a:t>
            </a:r>
            <a:r>
              <a:rPr sz="880" b="0">
                <a:solidFill>
                  <a:srgbClr val="0F1B33"/>
                </a:solidFill>
                <a:latin typeface="Segoe UI"/>
              </a:rPr>
              <a:t>Tracks causal dependencies of every A2A message and tool call with Lamport/Vector timestamp tracking.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Causal BFS Taint Calculation: </a:t>
            </a:r>
            <a:r>
              <a:rPr sz="880" b="0">
                <a:solidFill>
                  <a:srgbClr val="0F1B33"/>
                </a:solidFill>
                <a:latin typeface="Segoe UI"/>
              </a:rPr>
              <a:t>Upon detecting a fault at agent A_origin, computes reachable subgraph T_fault = BFS(A_origin) to isolate tainted nodes.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Surgical Snapshot Rollback: </a:t>
            </a:r>
            <a:r>
              <a:rPr sz="880" b="0">
                <a:solidFill>
                  <a:srgbClr val="0F1B33"/>
                </a:solidFill>
                <a:latin typeface="Segoe UI"/>
              </a:rPr>
              <a:t>Rewinds tainted nodes to SQLite checkpoint (chk_Branch_A_1) stored in aegis_snapshots.db in &lt;50ms.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100% Bulkhead Isolation: </a:t>
            </a:r>
            <a:r>
              <a:rPr sz="880" b="0">
                <a:solidFill>
                  <a:srgbClr val="0F1B33"/>
                </a:solidFill>
                <a:latin typeface="Segoe UI"/>
              </a:rPr>
              <a:t>Healthy branches (Branch B Compliance &amp; Audit) run completely uninterrupted (R_blast = 1.0), eliminating costly restarts.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94760"/>
            <a:ext cx="525780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2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INNOVATION 04 · OPERATIONAL CONTROL</a:t>
            </a:r>
          </a:p>
          <a:p>
            <a:pPr>
              <a:spcAft>
                <a:spcPts val="400"/>
              </a:spcAft>
              <a:defRPr sz="1050" b="1">
                <a:solidFill>
                  <a:srgbClr val="0F1B33"/>
                </a:solidFill>
                <a:latin typeface="Segoe UI"/>
              </a:defRPr>
            </a:pPr>
            <a:r>
              <a:t>Multi-Tier Kill-Switches &amp; Out-of-Band Governor Review Queue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GLOBAL_HARD Kill-Switch: </a:t>
            </a:r>
            <a:r>
              <a:rPr sz="880" b="0">
                <a:solidFill>
                  <a:srgbClr val="0F1B33"/>
                </a:solidFill>
                <a:latin typeface="Segoe UI"/>
              </a:rPr>
              <a:t>Emergency hardware-timed shutdown canceling all active asyncio tasks and revoking tokens in &lt;5.0ms (SLA ≤50ms).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SOFT_FREEZE Proxy Gate: </a:t>
            </a:r>
            <a:r>
              <a:rPr sz="880" b="0">
                <a:solidFill>
                  <a:srgbClr val="0F1B33"/>
                </a:solidFill>
                <a:latin typeface="Segoe UI"/>
              </a:rPr>
              <a:t>Halts tool execution at proxy boundary; enqueues high-value wires or detected faults into the Human Governor Queue.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Deterministic Governor Actions: </a:t>
            </a:r>
            <a:r>
              <a:rPr sz="880" b="0">
                <a:solidFill>
                  <a:srgbClr val="0F1B33"/>
                </a:solidFill>
                <a:latin typeface="Segoe UI"/>
              </a:rPr>
              <a:t>Operators can Approve, Modify parameters (overridden=True), or Reject &amp; Abort cleanly without hanging execution threads.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C6 Chaos Monkey Console: </a:t>
            </a:r>
            <a:r>
              <a:rPr sz="880" b="0">
                <a:solidFill>
                  <a:srgbClr val="0F1B33"/>
                </a:solidFill>
                <a:latin typeface="Segoe UI"/>
              </a:rPr>
              <a:t>Injects real-time faults (Rate Limits, Corrupted FX, 503 Outages, Escalations) and enables runtime fault removal.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000" b="1">
                <a:solidFill>
                  <a:srgbClr val="0A1F4B"/>
                </a:solidFill>
                <a:latin typeface="Segoe UI"/>
              </a:defRPr>
            </a:pPr>
            <a:r>
              <a:t>3. Technical Implementation: Control Plane Architecture &amp; Fleet Execution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3" name="Response area"/>
          <p:cNvSpPr txBox="1"/>
          <p:nvPr/>
        </p:nvSpPr>
        <p:spPr>
          <a:xfrm>
            <a:off x="762000" y="1092200"/>
            <a:ext cx="11274552" cy="1459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" name="Card 1 body">
            <a:extLst>
              <a:ext uri="{FF2B5EF4-FFF2-40B4-BE49-F238E27FC236}">
                <a16:creationId xmlns:a16="http://schemas.microsoft.com/office/drawing/2014/main" id="{DE173499-A638-1FF6-5DE0-1BF49C231F9B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/>
        </p:txBody>
      </p:sp>
      <p:sp>
        <p:nvSpPr>
          <p:cNvPr id="7" name="Diagram hint">
            <a:extLst>
              <a:ext uri="{FF2B5EF4-FFF2-40B4-BE49-F238E27FC236}">
                <a16:creationId xmlns:a16="http://schemas.microsoft.com/office/drawing/2014/main" id="{CE2EA272-AFF3-376F-704A-52C69FC1600F}"/>
              </a:ext>
            </a:extLst>
          </p:cNvPr>
          <p:cNvSpPr txBox="1"/>
          <p:nvPr/>
        </p:nvSpPr>
        <p:spPr>
          <a:xfrm>
            <a:off x="762000" y="1165167"/>
            <a:ext cx="3749040" cy="47091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55600" tIns="355600" rIns="355600" bIns="355600" rtlCol="0" anchor="ctr"/>
          <a:lstStyle/>
          <a:p/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FA427-C999-AC3B-740D-C7521C1C1EFB}"/>
              </a:ext>
            </a:extLst>
          </p:cNvPr>
          <p:cNvSpPr txBox="1"/>
          <p:nvPr/>
        </p:nvSpPr>
        <p:spPr>
          <a:xfrm>
            <a:off x="5223164" y="1165167"/>
            <a:ext cx="605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85800" y="1143000"/>
            <a:ext cx="4709160" cy="51663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spcAft>
                <a:spcPts val="200"/>
              </a:spcAft>
              <a:defRPr sz="950" b="1">
                <a:solidFill>
                  <a:srgbClr val="0A1F4B"/>
                </a:solidFill>
                <a:latin typeface="Segoe UI"/>
              </a:defRPr>
            </a:pPr>
            <a:r>
              <a:t>SYSTEM ARCHITECTURE (DUAL-BULKHEAD &amp; CONTROL PLANE)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508760"/>
            <a:ext cx="44348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7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/>
          <a:lstStyle/>
          <a:p>
            <a:pPr algn="ctr">
              <a:spcAft>
                <a:spcPts val="2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AUTONOMOUS MULTI-AGENT FLEET (NVIDIA NIM NEMOTRON-3.5)</a:t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0F1B33"/>
                </a:solidFill>
                <a:latin typeface="Segoe UI"/>
              </a:rPr>
              <a:t>• </a:t>
            </a:r>
            <a:r>
              <a:rPr sz="819" b="1">
                <a:solidFill>
                  <a:srgbClr val="0F1B33"/>
                </a:solidFill>
                <a:latin typeface="Segoe UI"/>
              </a:rPr>
              <a:t>L0 Orchestrator: </a:t>
            </a:r>
            <a:r>
              <a:rPr sz="819" b="0">
                <a:solidFill>
                  <a:srgbClr val="0F1B33"/>
                </a:solidFill>
                <a:latin typeface="Segoe UI"/>
              </a:rPr>
              <a:t>Chief_Treasury_Orchestrator (Parses user goals, spawns bulkheads)</a:t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0F1B33"/>
                </a:solidFill>
                <a:latin typeface="Segoe UI"/>
              </a:rPr>
              <a:t>• </a:t>
            </a:r>
            <a:r>
              <a:rPr sz="819" b="1">
                <a:solidFill>
                  <a:srgbClr val="0F1B33"/>
                </a:solidFill>
                <a:latin typeface="Segoe UI"/>
              </a:rPr>
              <a:t>Branch A (Settlement): </a:t>
            </a:r>
            <a:r>
              <a:rPr sz="819" b="0">
                <a:solidFill>
                  <a:srgbClr val="0F1B33"/>
                </a:solidFill>
                <a:latin typeface="Segoe UI"/>
              </a:rPr>
              <a:t>FX_Settlement_Supervisor → FX_Quote_Reader, SWIFT_Wire_Executor</a:t>
            </a:r>
          </a:p>
          <a:p>
            <a:pPr>
              <a:spcAft>
                <a:spcPts val="100"/>
              </a:spcAft>
            </a:pPr>
            <a:r>
              <a:rPr sz="819" b="1">
                <a:solidFill>
                  <a:srgbClr val="0F1B33"/>
                </a:solidFill>
                <a:latin typeface="Segoe UI"/>
              </a:rPr>
              <a:t>• </a:t>
            </a:r>
            <a:r>
              <a:rPr sz="819" b="1">
                <a:solidFill>
                  <a:srgbClr val="0F1B33"/>
                </a:solidFill>
                <a:latin typeface="Segoe UI"/>
              </a:rPr>
              <a:t>Branch B (Compliance): </a:t>
            </a:r>
            <a:r>
              <a:rPr sz="819" b="0">
                <a:solidFill>
                  <a:srgbClr val="0F1B33"/>
                </a:solidFill>
                <a:latin typeface="Segoe UI"/>
              </a:rPr>
              <a:t>Compliance_Supervisor → Sanctions_Screener, Audit_Logger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52928"/>
            <a:ext cx="4434840" cy="1417320"/>
          </a:xfrm>
          <a:prstGeom prst="roundRect">
            <a:avLst/>
          </a:prstGeom>
          <a:solidFill>
            <a:srgbClr val="0A1F4B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109728"/>
          <a:lstStyle/>
          <a:p>
            <a:pPr algn="ctr">
              <a:spcAft>
                <a:spcPts val="200"/>
              </a:spcAft>
              <a:defRPr sz="850" b="1">
                <a:solidFill>
                  <a:srgbClr val="76B900"/>
                </a:solidFill>
                <a:latin typeface="Segoe UI"/>
              </a:defRPr>
            </a:pPr>
            <a:r>
              <a:t>OUT-OF-BAND CONTROL PLANE PROXY GATEWAY (FastAPI :8000)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76B900"/>
                </a:solidFill>
                <a:latin typeface="Segoe UI"/>
              </a:rPr>
              <a:t>• </a:t>
            </a:r>
            <a:r>
              <a:rPr sz="800" b="1">
                <a:solidFill>
                  <a:srgbClr val="76B900"/>
                </a:solidFill>
                <a:latin typeface="Segoe UI"/>
              </a:rPr>
              <a:t>RFC 8037 Ed25519 IAM: </a:t>
            </a:r>
            <a:r>
              <a:rPr sz="800" b="0">
                <a:solidFill>
                  <a:srgbClr val="FFFFFF"/>
                </a:solidFill>
                <a:latin typeface="Segoe UI"/>
              </a:rPr>
              <a:t>Bearer JWT authentication &amp; mathematical scope attenuation (S_child ⊆ S_parent)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76B900"/>
                </a:solidFill>
                <a:latin typeface="Segoe UI"/>
              </a:rPr>
              <a:t>• </a:t>
            </a:r>
            <a:r>
              <a:rPr sz="800" b="1">
                <a:solidFill>
                  <a:srgbClr val="76B900"/>
                </a:solidFill>
                <a:latin typeface="Segoe UI"/>
              </a:rPr>
              <a:t>6 Domain Engines: </a:t>
            </a:r>
            <a:r>
              <a:rPr sz="800" b="0">
                <a:solidFill>
                  <a:srgbClr val="FFFFFF"/>
                </a:solidFill>
                <a:latin typeface="Segoe UI"/>
              </a:rPr>
              <a:t>C1 IAM | C2 Policy | C3 Task | C4 Lineage | C5 Checkpoint | C6 Chaos Monkey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76B900"/>
                </a:solidFill>
                <a:latin typeface="Segoe UI"/>
              </a:rPr>
              <a:t>• </a:t>
            </a:r>
            <a:r>
              <a:rPr sz="800" b="1">
                <a:solidFill>
                  <a:srgbClr val="76B900"/>
                </a:solidFill>
                <a:latin typeface="Segoe UI"/>
              </a:rPr>
              <a:t>4-Gate Verification: </a:t>
            </a:r>
            <a:r>
              <a:rPr sz="800" b="0">
                <a:solidFill>
                  <a:srgbClr val="FFFFFF"/>
                </a:solidFill>
                <a:latin typeface="Segoe UI"/>
              </a:rPr>
              <a:t>Gate L1 Schema → Gate L2 HMAC Provenance → Gate L3 Invariant → Gate L4 Pre-Commit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76B900"/>
                </a:solidFill>
                <a:latin typeface="Segoe UI"/>
              </a:rPr>
              <a:t>• </a:t>
            </a:r>
            <a:r>
              <a:rPr sz="800" b="1">
                <a:solidFill>
                  <a:srgbClr val="76B900"/>
                </a:solidFill>
                <a:latin typeface="Segoe UI"/>
              </a:rPr>
              <a:t>Multi-Tier Kill-Switch: </a:t>
            </a:r>
            <a:r>
              <a:rPr sz="800" b="0">
                <a:solidFill>
                  <a:srgbClr val="FFFFFF"/>
                </a:solidFill>
                <a:latin typeface="Segoe UI"/>
              </a:rPr>
              <a:t>Global Hard Kill (&lt;5ms), Soft-Freeze (Governor Queue), Surgical Snapshot Rollback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20"/>
            <a:ext cx="4434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200"/>
              </a:spcAft>
              <a:defRPr sz="850" b="1">
                <a:solidFill>
                  <a:srgbClr val="5A6B85"/>
                </a:solidFill>
                <a:latin typeface="Segoe UI"/>
              </a:defRPr>
            </a:pPr>
            <a:r>
              <a:t>EXTERNAL FINANCIAL APIS &amp; SNAPSHOT PERSISTENCE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0F1B33"/>
                </a:solidFill>
                <a:latin typeface="Segoe UI"/>
              </a:rPr>
              <a:t>• </a:t>
            </a:r>
            <a:r>
              <a:rPr sz="800" b="1">
                <a:solidFill>
                  <a:srgbClr val="0F1B33"/>
                </a:solidFill>
                <a:latin typeface="Segoe UI"/>
              </a:rPr>
              <a:t>Banking Feeds: </a:t>
            </a:r>
            <a:r>
              <a:rPr sz="800" b="0">
                <a:solidFill>
                  <a:srgbClr val="0F1B33"/>
                </a:solidFill>
                <a:latin typeface="Segoe UI"/>
              </a:rPr>
              <a:t>ERP Invoices (INV-2026-9981) | Bloomberg FX (Reuters fallback) | OFAC Sanctions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0F1B33"/>
                </a:solidFill>
                <a:latin typeface="Segoe UI"/>
              </a:rPr>
              <a:t>• </a:t>
            </a:r>
            <a:r>
              <a:rPr sz="800" b="1">
                <a:solidFill>
                  <a:srgbClr val="0F1B33"/>
                </a:solidFill>
                <a:latin typeface="Segoe UI"/>
              </a:rPr>
              <a:t>Settlement &amp; DB: </a:t>
            </a:r>
            <a:r>
              <a:rPr sz="800" b="0">
                <a:solidFill>
                  <a:srgbClr val="0F1B33"/>
                </a:solidFill>
                <a:latin typeface="Segoe UI"/>
              </a:rPr>
              <a:t>SWIFT MT103 Wire Settlement System | SQLite Checkpoint Store (aegis_snapshots.db)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349240"/>
            <a:ext cx="4434840" cy="777240"/>
          </a:xfrm>
          <a:prstGeom prst="roundRect">
            <a:avLst/>
          </a:prstGeom>
          <a:solidFill>
            <a:srgbClr val="EEF2F8"/>
          </a:solidFill>
          <a:ln w="12700">
            <a:solidFill>
              <a:srgbClr val="0B7F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109728"/>
          <a:lstStyle/>
          <a:p>
            <a:pPr algn="ctr">
              <a:spcAft>
                <a:spcPts val="100"/>
              </a:spcAft>
              <a:defRPr sz="850" b="1">
                <a:solidFill>
                  <a:srgbClr val="0B7FC7"/>
                </a:solidFill>
                <a:latin typeface="Segoe UI"/>
              </a:defRPr>
            </a:pPr>
            <a:r>
              <a:t>STREAMLIT INTERACTIVE LIVE CONSOLE (:8501)</a:t>
            </a:r>
          </a:p>
          <a:p>
            <a:pPr>
              <a:spcAft>
                <a:spcPts val="100"/>
              </a:spcAft>
            </a:pPr>
            <a:r>
              <a:rPr sz="800" b="1">
                <a:solidFill>
                  <a:srgbClr val="0F1B33"/>
                </a:solidFill>
                <a:latin typeface="Segoe UI"/>
              </a:rPr>
              <a:t>• </a:t>
            </a:r>
            <a:r>
              <a:rPr sz="800" b="1">
                <a:solidFill>
                  <a:srgbClr val="0F1B33"/>
                </a:solidFill>
                <a:latin typeface="Segoe UI"/>
              </a:rPr>
              <a:t>Operator Controls: </a:t>
            </a:r>
            <a:r>
              <a:rPr sz="800" b="0">
                <a:solidFill>
                  <a:srgbClr val="0F1B33"/>
                </a:solidFill>
                <a:latin typeface="Segoe UI"/>
              </a:rPr>
              <a:t>Live SVG Causal DAG | Governor Review Queue | Rollback State Diffs | Chaos Monkey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1143000"/>
            <a:ext cx="5852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0A1F4B"/>
                </a:solidFill>
                <a:latin typeface="Segoe UI"/>
              </a:defRPr>
            </a:pPr>
            <a:r>
              <a:t>HOW THE ARCHITECTURE OPERATES IN PRACTICE</a:t>
            </a:r>
          </a:p>
          <a:p>
            <a:pPr>
              <a:spcAft>
                <a:spcPts val="800"/>
              </a:spcAft>
            </a:pPr>
            <a:r>
              <a:rPr sz="930" b="1">
                <a:solidFill>
                  <a:srgbClr val="0F1B33"/>
                </a:solidFill>
                <a:latin typeface="Segoe UI"/>
              </a:rPr>
              <a:t>• </a:t>
            </a:r>
            <a:r>
              <a:rPr sz="930" b="1">
                <a:solidFill>
                  <a:srgbClr val="0F1B33"/>
                </a:solidFill>
                <a:latin typeface="Segoe UI"/>
              </a:rPr>
              <a:t>1. Domain-Agnostic Proxy Gateway (aegis_core): </a:t>
            </a:r>
            <a:r>
              <a:rPr sz="930" b="0">
                <a:solidFill>
                  <a:srgbClr val="0F1B33"/>
                </a:solidFill>
                <a:latin typeface="Segoe UI"/>
              </a:rPr>
              <a:t>All A2A messages and tool calls route out-of-band through FastAPI (:8000) using HTTP Bearer RFC 8037 Ed25519 JWT headers. No agent can bypass the proxy or directly communicate with external APIs.</a:t>
            </a:r>
          </a:p>
          <a:p>
            <a:pPr>
              <a:spcAft>
                <a:spcPts val="800"/>
              </a:spcAft>
            </a:pPr>
            <a:r>
              <a:rPr sz="930" b="1">
                <a:solidFill>
                  <a:srgbClr val="0F1B33"/>
                </a:solidFill>
                <a:latin typeface="Segoe UI"/>
              </a:rPr>
              <a:t>• </a:t>
            </a:r>
            <a:r>
              <a:rPr sz="930" b="1">
                <a:solidFill>
                  <a:srgbClr val="0F1B33"/>
                </a:solidFill>
                <a:latin typeface="Segoe UI"/>
              </a:rPr>
              <a:t>2. Dual-Bulkhead Partitioning (L0→L2): </a:t>
            </a:r>
            <a:r>
              <a:rPr sz="930" b="0">
                <a:solidFill>
                  <a:srgbClr val="0F1B33"/>
                </a:solidFill>
                <a:latin typeface="Segoe UI"/>
              </a:rPr>
              <a:t>The L0 orchestrator spawns Branch A (Settlement) and Branch B (Compliance) concurrently via asyncio.gather. Scopes are strictly partitioned (S_child ⊆ S_parent); low-privilege workers cannot execute swift:wire.</a:t>
            </a:r>
          </a:p>
          <a:p>
            <a:pPr>
              <a:spcAft>
                <a:spcPts val="800"/>
              </a:spcAft>
            </a:pPr>
            <a:r>
              <a:rPr sz="930" b="1">
                <a:solidFill>
                  <a:srgbClr val="0F1B33"/>
                </a:solidFill>
                <a:latin typeface="Segoe UI"/>
              </a:rPr>
              <a:t>• </a:t>
            </a:r>
            <a:r>
              <a:rPr sz="930" b="1">
                <a:solidFill>
                  <a:srgbClr val="0F1B33"/>
                </a:solidFill>
                <a:latin typeface="Segoe UI"/>
              </a:rPr>
              <a:t>3. Autonomous Reasoning Fleet via NVIDIA NIM: </a:t>
            </a:r>
            <a:r>
              <a:rPr sz="930" b="0">
                <a:solidFill>
                  <a:srgbClr val="0F1B33"/>
                </a:solidFill>
                <a:latin typeface="Segoe UI"/>
              </a:rPr>
              <a:t>Driven by nvidia/nemotron-3.5-lightning-30b-a3b (fallback meta/llama-3.3-70b-instruct) using JSON action protocol (CALL_TOOL, SEND_A2A, SPAWN_CHILD, REQUEST_HUMAN, COMPLETE).</a:t>
            </a:r>
          </a:p>
          <a:p>
            <a:pPr>
              <a:spcAft>
                <a:spcPts val="800"/>
              </a:spcAft>
            </a:pPr>
            <a:r>
              <a:rPr sz="930" b="1">
                <a:solidFill>
                  <a:srgbClr val="0F1B33"/>
                </a:solidFill>
                <a:latin typeface="Segoe UI"/>
              </a:rPr>
              <a:t>• </a:t>
            </a:r>
            <a:r>
              <a:rPr sz="930" b="1">
                <a:solidFill>
                  <a:srgbClr val="0F1B33"/>
                </a:solidFill>
                <a:latin typeface="Segoe UI"/>
              </a:rPr>
              <a:t>4. 4-Gate Pre-Commit Accounting Verification: </a:t>
            </a:r>
            <a:r>
              <a:rPr sz="930" b="0">
                <a:solidFill>
                  <a:srgbClr val="0F1B33"/>
                </a:solidFill>
                <a:latin typeface="Segoe UI"/>
              </a:rPr>
              <a:t>Before swift:wire commits state mutation, Gate L4 runs Gate L2 HMAC provenance verification and Gate L3 math conservation (|USD×FX - EUR| &lt; 0.01). Corrupted rates are rejected before wire release.</a:t>
            </a:r>
          </a:p>
          <a:p>
            <a:pPr>
              <a:spcAft>
                <a:spcPts val="400"/>
              </a:spcAft>
            </a:pPr>
            <a:r>
              <a:rPr sz="930" b="1">
                <a:solidFill>
                  <a:srgbClr val="0F1B33"/>
                </a:solidFill>
                <a:latin typeface="Segoe UI"/>
              </a:rPr>
              <a:t>• </a:t>
            </a:r>
            <a:r>
              <a:rPr sz="930" b="1">
                <a:solidFill>
                  <a:srgbClr val="0F1B33"/>
                </a:solidFill>
                <a:latin typeface="Segoe UI"/>
              </a:rPr>
              <a:t>5. Causal BFS Isolation &amp; SQLite Checkpoints (C4+C5): </a:t>
            </a:r>
            <a:r>
              <a:rPr sz="930" b="0">
                <a:solidFill>
                  <a:srgbClr val="0F1B33"/>
                </a:solidFill>
                <a:latin typeface="Segoe UI"/>
              </a:rPr>
              <a:t>Checkpoints stored in SQLite aegis_snapshots.db. When an anomaly or 503 is detected, Causal BFS isolates the tainted subgraph, revokes compromised tokens, rolls back to clean snapshot chk_Branch_A_1, and cleanly respawns while Branch B runs unaffected.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000" b="1">
                <a:solidFill>
                  <a:srgbClr val="0A1F4B"/>
                </a:solidFill>
                <a:latin typeface="Segoe UI"/>
              </a:defRPr>
            </a:pPr>
            <a:r>
              <a:t>4. Measurable Metrics: Empirical Benchmarks &amp; Production Validation</a:t>
            </a:r>
            <a:endParaRPr lang="en-US" sz="3200">
              <a:solidFill>
                <a:schemeClr val="tx2"/>
              </a:solidFill>
            </a:endParaRPr>
          </a:p>
        </p:txBody>
      </p:sp>
      <p:sp>
        <p:nvSpPr>
          <p:cNvPr id="4" name="Card 1 body">
            <a:extLst>
              <a:ext uri="{FF2B5EF4-FFF2-40B4-BE49-F238E27FC236}">
                <a16:creationId xmlns:a16="http://schemas.microsoft.com/office/drawing/2014/main" id="{192B2140-395B-CEB3-768B-3727B9B1612E}"/>
              </a:ext>
            </a:extLst>
          </p:cNvPr>
          <p:cNvSpPr/>
          <p:nvPr/>
        </p:nvSpPr>
        <p:spPr>
          <a:xfrm>
            <a:off x="457200" y="983673"/>
            <a:ext cx="11274552" cy="5554287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463040"/>
                <a:gridCol w="3108960"/>
                <a:gridCol w="2194560"/>
                <a:gridCol w="146304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 Name &amp; Objective</a:t>
                      </a:r>
                    </a:p>
                  </a:txBody>
                  <a:tcPr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 / SLA</a:t>
                      </a:r>
                    </a:p>
                  </a:txBody>
                  <a:tcPr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Mathematical Formula</a:t>
                      </a:r>
                    </a:p>
                  </a:txBody>
                  <a:tcPr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Measured Production Result</a:t>
                      </a:r>
                    </a:p>
                  </a:txBody>
                  <a:tcPr anchor="ctr">
                    <a:solidFill>
                      <a:srgbClr val="0A1F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0A1F4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B33"/>
                          </a:solidFill>
                          <a:latin typeface="Segoe UI"/>
                        </a:defRPr>
                      </a:pPr>
                      <a:r>
                        <a:t>Kill-Switch Latency (T_kill)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A6B85"/>
                          </a:solidFill>
                          <a:latin typeface="Segoe UI"/>
                        </a:defRPr>
                      </a:pPr>
                      <a:r>
                        <a:t>≤ 50.0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B33"/>
                          </a:solidFill>
                          <a:latin typeface="Consolas"/>
                        </a:defRPr>
                      </a:pPr>
                      <a:r>
                        <a:t>t_revoke + t_cancel + t_socket_close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F4B"/>
                          </a:solidFill>
                          <a:latin typeface="Segoe UI"/>
                        </a:defRPr>
                      </a:pPr>
                      <a:r>
                        <a:t>0.014 ms – 4.8 ms (10 live tasks)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E3E"/>
                          </a:solidFill>
                          <a:latin typeface="Segoe UI"/>
                        </a:defRPr>
                      </a:pPr>
                      <a:r>
                        <a:t>PASSED (10× faster)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B33"/>
                          </a:solidFill>
                          <a:latin typeface="Segoe UI"/>
                        </a:defRPr>
                      </a:pPr>
                      <a:r>
                        <a:t>Blast Radius Containment (R_blast)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A6B85"/>
                          </a:solidFill>
                          <a:latin typeface="Segoe UI"/>
                        </a:defRPr>
                      </a:pPr>
                      <a:r>
                        <a:t>100% (1.0)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B33"/>
                          </a:solidFill>
                          <a:latin typeface="Consolas"/>
                        </a:defRPr>
                      </a:pPr>
                      <a:r>
                        <a:t>1 - (|Disrupted Healthy| / |Total Healthy|)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F4B"/>
                          </a:solidFill>
                          <a:latin typeface="Segoe UI"/>
                        </a:defRPr>
                      </a:pPr>
                      <a:r>
                        <a:t>100% (Branch B 0% disrupted)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E3E"/>
                          </a:solidFill>
                          <a:latin typeface="Segoe UI"/>
                        </a:defRPr>
                      </a:pPr>
                      <a:r>
                        <a:t>PASSED (Perfect)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B33"/>
                          </a:solidFill>
                          <a:latin typeface="Segoe UI"/>
                        </a:defRPr>
                      </a:pPr>
                      <a:r>
                        <a:t>Unauthorized Action Block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A6B85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B33"/>
                          </a:solidFill>
                          <a:latin typeface="Consolas"/>
                        </a:defRPr>
                      </a:pPr>
                      <a:r>
                        <a:t>(Blocked Unauthorized / Total Unauthorized) ×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F4B"/>
                          </a:solidFill>
                          <a:latin typeface="Segoe UI"/>
                        </a:defRPr>
                      </a:pPr>
                      <a:r>
                        <a:t>100% (HTTP 403 in &lt; 2 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E3E"/>
                          </a:solidFill>
                          <a:latin typeface="Segoe UI"/>
                        </a:defRPr>
                      </a:pPr>
                      <a:r>
                        <a:t>PASSED (Zero Leak)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B33"/>
                          </a:solidFill>
                          <a:latin typeface="Segoe UI"/>
                        </a:defRPr>
                      </a:pPr>
                      <a:r>
                        <a:t>Mean Time to Recovery (MTTR)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A6B85"/>
                          </a:solidFill>
                          <a:latin typeface="Segoe UI"/>
                        </a:defRPr>
                      </a:pPr>
                      <a:r>
                        <a:t>&lt; 5.0 s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B33"/>
                          </a:solidFill>
                          <a:latin typeface="Consolas"/>
                        </a:defRPr>
                      </a:pPr>
                      <a:r>
                        <a:t>Detection → Snapshot Rollback → Clean Respawn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F4B"/>
                          </a:solidFill>
                          <a:latin typeface="Segoe UI"/>
                        </a:defRPr>
                      </a:pPr>
                      <a:r>
                        <a:t>&lt; 0.05 s (&lt; 50 ms via SQLite)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E3E"/>
                          </a:solidFill>
                          <a:latin typeface="Segoe UI"/>
                        </a:defRPr>
                      </a:pPr>
                      <a:r>
                        <a:t>PASSED (100× faster)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B33"/>
                          </a:solidFill>
                          <a:latin typeface="Segoe UI"/>
                        </a:defRPr>
                      </a:pPr>
                      <a:r>
                        <a:t>Wasted Token 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A6B85"/>
                          </a:solidFill>
                          <a:latin typeface="Segoe UI"/>
                        </a:defRPr>
                      </a:pPr>
                      <a:r>
                        <a:t>&lt; 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B33"/>
                          </a:solidFill>
                          <a:latin typeface="Consolas"/>
                        </a:defRPr>
                      </a:pPr>
                      <a:r>
                        <a:t>(Tokens in Faulted Turns / Total Tokens) ×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F4B"/>
                          </a:solidFill>
                          <a:latin typeface="Segoe UI"/>
                        </a:defRPr>
                      </a:pPr>
                      <a:r>
                        <a:t>0.00% (Clean) / &lt; 4.2% (Under Chaos)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E8E3E"/>
                          </a:solidFill>
                          <a:latin typeface="Segoe UI"/>
                        </a:defRPr>
                      </a:pPr>
                      <a:r>
                        <a:t>PASSED (&lt; 5% SLA)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343400"/>
            <a:ext cx="10789920" cy="19659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400"/>
              </a:spcAft>
              <a:defRPr sz="1050" b="1">
                <a:solidFill>
                  <a:srgbClr val="0A1F4B"/>
                </a:solidFill>
                <a:latin typeface="Segoe UI"/>
              </a:defRPr>
            </a:pPr>
            <a:r>
              <a:t>EMPIRICAL RIGOUR &amp; REAL-WORLD VALIDATION EVIDENCE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8E3E"/>
                </a:solidFill>
                <a:latin typeface="Segoe UI"/>
              </a:rPr>
              <a:t>• </a:t>
            </a:r>
            <a:r>
              <a:rPr sz="900" b="1">
                <a:solidFill>
                  <a:srgbClr val="1E8E3E"/>
                </a:solidFill>
                <a:latin typeface="Segoe UI"/>
              </a:rPr>
              <a:t>100% Automated Test Coverage: </a:t>
            </a:r>
            <a:r>
              <a:rPr sz="900" b="0">
                <a:solidFill>
                  <a:srgbClr val="0F1B33"/>
                </a:solidFill>
                <a:latin typeface="Segoe UI"/>
              </a:rPr>
              <a:t>26 comprehensive unit and integration tests passing in 3.59 seconds (pytest -v -s), verifying Ed25519 token minting, strict delegation attenuation, RBAC 403 blocks, 4-gate verification, and sub-50ms kill-switches.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1E8E3E"/>
                </a:solidFill>
                <a:latin typeface="Segoe UI"/>
              </a:rPr>
              <a:t>• </a:t>
            </a:r>
            <a:r>
              <a:rPr sz="900" b="1">
                <a:solidFill>
                  <a:srgbClr val="1E8E3E"/>
                </a:solidFill>
                <a:latin typeface="Segoe UI"/>
              </a:rPr>
              <a:t>Real-World $2,000,000 Corporate Settlement: </a:t>
            </a:r>
            <a:r>
              <a:rPr sz="900" b="0">
                <a:solidFill>
                  <a:srgbClr val="0F1B33"/>
                </a:solidFill>
                <a:latin typeface="Segoe UI"/>
              </a:rPr>
              <a:t>End-to-end execution of Siemens Energy AG invoice payment (INV-2026-9981) driven by real NVIDIA NIM reasoning (Nemotron-3.5-lightning), verifying seamless ERP read, OFAC sanction check, Bloomberg quote, and SWIFT settlement.</a:t>
            </a:r>
          </a:p>
          <a:p>
            <a:pPr>
              <a:spcAft>
                <a:spcPts val="100"/>
              </a:spcAft>
            </a:pPr>
            <a:r>
              <a:rPr sz="900" b="1">
                <a:solidFill>
                  <a:srgbClr val="1E8E3E"/>
                </a:solidFill>
                <a:latin typeface="Segoe UI"/>
              </a:rPr>
              <a:t>• </a:t>
            </a:r>
            <a:r>
              <a:rPr sz="900" b="1">
                <a:solidFill>
                  <a:srgbClr val="1E8E3E"/>
                </a:solidFill>
                <a:latin typeface="Segoe UI"/>
              </a:rPr>
              <a:t>Live Chaos Monkey &amp; Governor Verification: </a:t>
            </a:r>
            <a:r>
              <a:rPr sz="900" b="0">
                <a:solidFill>
                  <a:srgbClr val="0F1B33"/>
                </a:solidFill>
                <a:latin typeface="Segoe UI"/>
              </a:rPr>
              <a:t>Stress-tested against real runtime faults: Rate exhaustion, Corrupted FX (0.9192 → 9.200), Upstream API 503s, and Privilege Escalation. Verified live Governor review queue approval, parameter override (overridden=True), and clean rejection.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1"/>
                </a:solidFill>
              </a:rPr>
              <a:t>AEGIS 2026  ·  BACKUP MATERIAL</a:t>
            </a:r>
            <a:endParaRPr lang="en-US" sz="1200"/>
          </a:p>
        </p:txBody>
      </p:sp>
      <p:sp>
        <p:nvSpPr>
          <p:cNvPr id="4" name="Title"/>
          <p:cNvSpPr txBox="1"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4000"/>
          </a:p>
        </p:txBody>
      </p:sp>
      <p:sp>
        <p:nvSpPr>
          <p:cNvPr id="5" name="Working area"/>
          <p:cNvSpPr/>
          <p:nvPr/>
        </p:nvSpPr>
        <p:spPr>
          <a:xfrm>
            <a:off x="457200" y="1920240"/>
            <a:ext cx="11274552" cy="44348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/>
        </p:txBody>
      </p:sp>
      <p:sp>
        <p:nvSpPr>
          <p:cNvPr id="6" name="Hint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050">
                <a:solidFill>
                  <a:srgbClr val="5A6B85"/>
                </a:solidFill>
                <a:latin typeface="Segoe UI"/>
              </a:defRPr>
            </a:pPr>
            <a:r>
              <a:t>Core Engine Architecture, 7 Core Control Plane API Methods, and Working Prototype Deliverables</a:t>
            </a:r>
            <a:endParaRPr lang="en-US" sz="1600"/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63093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050" b="1">
                <a:solidFill>
                  <a:srgbClr val="0A1F4B"/>
                </a:solidFill>
                <a:latin typeface="Segoe UI"/>
              </a:defRPr>
            </a:pPr>
            <a:r>
              <a:t>7 CORE CONTROL PLANE API METHODS (DOMAIN-AGNOSTIC ENGINES C1–C6)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1. mint_delegated_token: </a:t>
            </a:r>
            <a:r>
              <a:rPr sz="880" b="0">
                <a:solidFill>
                  <a:srgbClr val="0F1B33"/>
                </a:solidFill>
                <a:latin typeface="Segoe UI"/>
              </a:rPr>
              <a:t>Issues RFC 8037 Ed25519 JWT enforcing mathematical attenuation (S_child ⊆ S_parent).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2. create_checkpoint: </a:t>
            </a:r>
            <a:r>
              <a:rPr sz="880" b="0">
                <a:solidFill>
                  <a:srgbClr val="0F1B33"/>
                </a:solidFill>
                <a:latin typeface="Segoe UI"/>
              </a:rPr>
              <a:t>Commits immutable branch state to SQLite (aegis_snapshots.db) prior to state mutations.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3. intercept_tool_call: </a:t>
            </a:r>
            <a:r>
              <a:rPr sz="880" b="0">
                <a:solidFill>
                  <a:srgbClr val="0F1B33"/>
                </a:solidFill>
                <a:latin typeface="Segoe UI"/>
              </a:rPr>
              <a:t>Enforces RBAC, verifies Gate L2 HMAC provenance, checks Gate L3 math, runs Gate L4 pre-commit.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4. route_a2a_message: </a:t>
            </a:r>
            <a:r>
              <a:rPr sz="880" b="0">
                <a:solidFill>
                  <a:srgbClr val="0F1B33"/>
                </a:solidFill>
                <a:latin typeface="Segoe UI"/>
              </a:rPr>
              <a:t>Validates sender token, updates causal vector clocks, logs edge in Lineage DAG, tracks HMAC payload hash.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5. inject_chaos_fault: </a:t>
            </a:r>
            <a:r>
              <a:rPr sz="880" b="0">
                <a:solidFill>
                  <a:srgbClr val="0F1B33"/>
                </a:solidFill>
                <a:latin typeface="Segoe UI"/>
              </a:rPr>
              <a:t>Arms C6 Chaos Monkey with Rate Exhaustion, Corrupted State, Upstream 503, or Unauthorized Escalation.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6. isolate_and_rollback: </a:t>
            </a:r>
            <a:r>
              <a:rPr sz="880" b="0">
                <a:solidFill>
                  <a:srgbClr val="0F1B33"/>
                </a:solidFill>
                <a:latin typeface="Segoe UI"/>
              </a:rPr>
              <a:t>Runs Causal BFS to compute tainted subgraph, revokes tokens, restores SQLite snapshot, respawns clean agents.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7. trigger_kill_switch: </a:t>
            </a:r>
            <a:r>
              <a:rPr sz="880" b="0">
                <a:solidFill>
                  <a:srgbClr val="0F1B33"/>
                </a:solidFill>
                <a:latin typeface="Segoe UI"/>
              </a:rPr>
              <a:t>Dispatches GLOBAL_HARD (&lt;5ms), SOFT_FREEZE (Governor Queue), or SURGICAL rollback &amp; respawn.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240280"/>
            <a:ext cx="4343400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400"/>
              </a:spcAft>
              <a:defRPr sz="1050" b="1">
                <a:solidFill>
                  <a:srgbClr val="0B7FC7"/>
                </a:solidFill>
                <a:latin typeface="Segoe UI"/>
              </a:defRPr>
            </a:pPr>
            <a:r>
              <a:t>LIVE WORKING PROTOTYPE &amp; DELIVERABLES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FastAPI Control Plane Gateway: </a:t>
            </a:r>
            <a:r>
              <a:rPr sz="880" b="0">
                <a:solidFill>
                  <a:srgbClr val="0F1B33"/>
                </a:solidFill>
                <a:latin typeface="Segoe UI"/>
              </a:rPr>
              <a:t>Running on port 8000 (http://localhost:8000). Interactive OpenAPI docs at /docs.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Streamlit Live Console: </a:t>
            </a:r>
            <a:r>
              <a:rPr sz="880" b="0">
                <a:solidFill>
                  <a:srgbClr val="0F1B33"/>
                </a:solidFill>
                <a:latin typeface="Segoe UI"/>
              </a:rPr>
              <a:t>Running on port 8501 (http://localhost:8501) with live SVG Causal DAG, step playback, and governor controls.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NVIDIA NIM Integration: </a:t>
            </a:r>
            <a:r>
              <a:rPr sz="880" b="0">
                <a:solidFill>
                  <a:srgbClr val="0F1B33"/>
                </a:solidFill>
                <a:latin typeface="Segoe UI"/>
              </a:rPr>
              <a:t>Canonical model: nvidia/nemotron-3.5-lightning-30b-a3b with automatic fallback to meta/llama-3.3-70b-instruct.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Production SQLite Database: </a:t>
            </a:r>
            <a:r>
              <a:rPr sz="880" b="0">
                <a:solidFill>
                  <a:srgbClr val="0F1B33"/>
                </a:solidFill>
                <a:latin typeface="Segoe UI"/>
              </a:rPr>
              <a:t>aegis_snapshots.db storing versioned immutable checkpoints and audit lineage.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Automated Test Suite: </a:t>
            </a:r>
            <a:r>
              <a:rPr sz="880" b="0">
                <a:solidFill>
                  <a:srgbClr val="0F1B33"/>
                </a:solidFill>
                <a:latin typeface="Segoe UI"/>
              </a:rPr>
              <a:t>26/26 tests passing in 3.59s (pytest -v -s) in tests/ covering generic SDK, fleet reasoning, and treasury suite.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F1B33"/>
                </a:solidFill>
                <a:latin typeface="Segoe UI"/>
              </a:rPr>
              <a:t>• </a:t>
            </a:r>
            <a:r>
              <a:rPr sz="880" b="1">
                <a:solidFill>
                  <a:srgbClr val="0F1B33"/>
                </a:solidFill>
                <a:latin typeface="Segoe UI"/>
              </a:rPr>
              <a:t>Modular Architecture: </a:t>
            </a:r>
            <a:r>
              <a:rPr sz="880" b="0">
                <a:solidFill>
                  <a:srgbClr val="0F1B33"/>
                </a:solidFill>
                <a:latin typeface="Segoe UI"/>
              </a:rPr>
              <a:t>aegis_core (domain-agnostic control plane) and aegis_sdk (pluggable decorators &amp; client).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GIS 2026">
  <a:themeElements>
    <a:clrScheme name="AEGIS 2026">
      <a:dk1>
        <a:srgbClr val="0F1B33"/>
      </a:dk1>
      <a:lt1>
        <a:srgbClr val="FFFFFF"/>
      </a:lt1>
      <a:dk2>
        <a:srgbClr val="0A1F4B"/>
      </a:dk2>
      <a:lt2>
        <a:srgbClr val="EEF2F8"/>
      </a:lt2>
      <a:accent1>
        <a:srgbClr val="76B900"/>
      </a:accent1>
      <a:accent2>
        <a:srgbClr val="0B7FC7"/>
      </a:accent2>
      <a:accent3>
        <a:srgbClr val="F5A623"/>
      </a:accent3>
      <a:accent4>
        <a:srgbClr val="5A6B85"/>
      </a:accent4>
      <a:accent5>
        <a:srgbClr val="DDE5F0"/>
      </a:accent5>
      <a:accent6>
        <a:srgbClr val="3A5A8C"/>
      </a:accent6>
      <a:hlink>
        <a:srgbClr val="0B7FC7"/>
      </a:hlink>
      <a:folHlink>
        <a:srgbClr val="5A6B85"/>
      </a:folHlink>
    </a:clrScheme>
    <a:fontScheme name="AEGIS 202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d8a196-24eb-41bb-9b22-e6a1875a70f5}" enabled="1" method="Privilege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AEGIS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2026 - Blank Criteria Slides</dc:title>
  <dc:subject>PptxGenJS Presentation</dc:subject>
  <dc:creator>PptxGenJS</dc:creator>
  <cp:revision>1</cp:revision>
  <dcterms:created xsi:type="dcterms:W3CDTF">2026-10-13T12:57:50Z</dcterms:created>
  <dcterms:modified xsi:type="dcterms:W3CDTF">2026-10-14T09:35:23Z</dcterms:modified>
</cp:coreProperties>
</file>